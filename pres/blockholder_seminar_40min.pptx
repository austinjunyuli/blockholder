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14"/>
  </p:normalViewPr>
  <p:slideViewPr>
    <p:cSldViewPr snapToGrid="0" snapToObjects="1">
      <p:cViewPr varScale="1">
        <p:scale>
          <a:sx n="112" d="100"/>
          <a:sy n="112" d="100"/>
        </p:scale>
        <p:origin x="6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629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" y="1554480"/>
            <a:ext cx="582930" cy="64008"/>
          </a:xfrm>
          <a:prstGeom prst="rect">
            <a:avLst/>
          </a:prstGeom>
          <a:solidFill>
            <a:srgbClr val="EE6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79042" y="1554480"/>
            <a:ext cx="582930" cy="64008"/>
          </a:xfrm>
          <a:prstGeom prst="rect">
            <a:avLst/>
          </a:prstGeom>
          <a:solidFill>
            <a:srgbClr val="DDCC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61972" y="1554480"/>
            <a:ext cx="582930" cy="64008"/>
          </a:xfrm>
          <a:prstGeom prst="rect">
            <a:avLst/>
          </a:prstGeom>
          <a:solidFill>
            <a:srgbClr val="88CC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44902" y="1554480"/>
            <a:ext cx="582930" cy="64008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92224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1">
                <a:solidFill>
                  <a:srgbClr val="FFFFFF"/>
                </a:solidFill>
                <a:latin typeface="Helvetica Neue"/>
              </a:rPr>
              <a:t>Liquidity, Activism Disclosure,</a:t>
            </a:r>
          </a:p>
          <a:p>
            <a:r>
              <a:rPr sz="4100" b="1">
                <a:solidFill>
                  <a:srgbClr val="FFFFFF"/>
                </a:solidFill>
                <a:latin typeface="Helvetica Neue"/>
              </a:rPr>
              <a:t>and Takeover Premia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C9D6E8"/>
                </a:solidFill>
                <a:latin typeface="Helvetica Neue"/>
              </a:rPr>
              <a:t>When can the market see an activist coming — and who pockets the premium?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74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Helvetica Neue"/>
              </a:rPr>
              <a:t>Austin Li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9D6E8"/>
                </a:solidFill>
                <a:latin typeface="Helvetica Neue"/>
              </a:rPr>
              <a:t>University College London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64373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spc="160">
                <a:solidFill>
                  <a:srgbClr val="C9D6E8"/>
                </a:solidFill>
                <a:latin typeface="Helvetica Neue"/>
              </a:rPr>
              <a:t>SEMINAR DECK · 40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12121"/>
                </a:solidFill>
                <a:latin typeface="Helvetica Neue"/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8745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Activist returns ride the takeover channel; two live policy levers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6700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12121"/>
                </a:solidFill>
                <a:latin typeface="Helvetica Neue"/>
              </a:rPr>
              <a:t>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71576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One trading round, four plays, and a bidder who reads the price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18688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49300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Helvetica Neu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1129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12121"/>
                </a:solidFill>
                <a:latin typeface="Helvetica Neue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557016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The liquidity sweet spot, the premium wedge, the transparency paradox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334256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Helvetica Neue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3525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12121"/>
                </a:solidFill>
                <a:latin typeface="Helvetica Neue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398264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The 2024 five-business-day rule as a natural experiment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901184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175504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Helvetica Neue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1937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12121"/>
                </a:solidFill>
                <a:latin typeface="Helvetica Neue"/>
              </a:rPr>
              <a:t>Implications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523951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Policy, investors, and the road ahead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742432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6062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A5A5A"/>
                </a:solidFill>
                <a:latin typeface="Helvetica Neue"/>
              </a:rPr>
              <a:t>Backup: calibration, equilibrium tables, posterior algebra, certification machinery, data &amp; methods.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Three things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54787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47872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2" y="2057400"/>
            <a:ext cx="475488" cy="47548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24912"/>
            <a:ext cx="3035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12121"/>
                </a:solidFill>
                <a:latin typeface="Helvetica Neue"/>
              </a:rPr>
              <a:t>Liquidity has a sweet 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03320"/>
            <a:ext cx="303580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Helvetica Neue"/>
              </a:rPr>
              <a:t>Takeover gains for minority shareholders are </a:t>
            </a:r>
            <a:r>
              <a:rPr sz="1300" b="1">
                <a:solidFill>
                  <a:srgbClr val="212121"/>
                </a:solidFill>
                <a:latin typeface="Helvetica Neue"/>
              </a:rPr>
              <a:t>hump-shaped</a:t>
            </a:r>
            <a:r>
              <a:rPr sz="1300" b="0">
                <a:solidFill>
                  <a:srgbClr val="212121"/>
                </a:solidFill>
                <a:latin typeface="Helvetica Neue"/>
              </a:rPr>
              <a:t> in market liquidity: noise lets bidders in, but too much noise destroys the market's ability to price activism.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783080"/>
            <a:ext cx="354787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25112" y="1783080"/>
            <a:ext cx="3547872" cy="41148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1144" y="2057400"/>
            <a:ext cx="475488" cy="475488"/>
          </a:xfrm>
          <a:prstGeom prst="ellipse">
            <a:avLst/>
          </a:prstGeom>
          <a:solidFill>
            <a:srgbClr val="44AA9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724912"/>
            <a:ext cx="3035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12121"/>
                </a:solidFill>
                <a:latin typeface="Helvetica Neue"/>
              </a:rPr>
              <a:t>Who pockets the premium is tender mechanics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03320"/>
            <a:ext cx="303580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Helvetica Neue"/>
              </a:rPr>
              <a:t>The activist premium is pinned by a free-rider tender game: appropriability λ = 1 − q(1−γ)ψ. Low λ explains why estimated premia can </a:t>
            </a:r>
            <a:r>
              <a:rPr sz="1300" b="1">
                <a:solidFill>
                  <a:srgbClr val="212121"/>
                </a:solidFill>
                <a:latin typeface="Helvetica Neue"/>
              </a:rPr>
              <a:t>fall</a:t>
            </a:r>
            <a:r>
              <a:rPr sz="1300" b="0">
                <a:solidFill>
                  <a:srgbClr val="212121"/>
                </a:solidFill>
                <a:latin typeface="Helvetica Neue"/>
              </a:rPr>
              <a:t> when activists show up.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783080"/>
            <a:ext cx="354787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1584" y="1783080"/>
            <a:ext cx="3547872" cy="41148"/>
          </a:xfrm>
          <a:prstGeom prst="rect">
            <a:avLst/>
          </a:prstGeom>
          <a:solidFill>
            <a:srgbClr val="EE6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57616" y="2057400"/>
            <a:ext cx="475488" cy="475488"/>
          </a:xfrm>
          <a:prstGeom prst="ellipse">
            <a:avLst/>
          </a:prstGeom>
          <a:solidFill>
            <a:srgbClr val="EE6677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724912"/>
            <a:ext cx="3035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12121"/>
                </a:solidFill>
                <a:latin typeface="Helvetica Neue"/>
              </a:rPr>
              <a:t>Disclosure law is a market-design lever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703320"/>
            <a:ext cx="303580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Helvetica Neue"/>
              </a:rPr>
              <a:t>Stake-triggered disclosure attenuates the liquidity effect — and stricter rules can </a:t>
            </a:r>
            <a:r>
              <a:rPr sz="1300" b="1">
                <a:solidFill>
                  <a:srgbClr val="212121"/>
                </a:solidFill>
                <a:latin typeface="Helvetica Neue"/>
              </a:rPr>
              <a:t>backfire</a:t>
            </a:r>
            <a:r>
              <a:rPr sz="1300" b="0">
                <a:solidFill>
                  <a:srgbClr val="212121"/>
                </a:solidFill>
                <a:latin typeface="Helvetica Neue"/>
              </a:rPr>
              <a:t> by killing quiet engagement. The 2024 SEC acceleration moved exactly this margin.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01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Activist returns ride the takeover channel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16636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16636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SHARE OF ACTIVIST RETURNS TIED TO 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317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>
                <a:solidFill>
                  <a:srgbClr val="1F3A5F"/>
                </a:solidFill>
                <a:latin typeface="Helvetica Neue"/>
              </a:rPr>
              <a:t>~65%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of activist hedge-fund returns are tied to M&amp;A outcomes (Brav–Jiang–Partnoy–Thomas 2008).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Targets are acquired at significant premia; activists profit primarily through the takeover exit (Greenwood–Schor 2009).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874519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50" b="0">
                <a:solidFill>
                  <a:srgbClr val="212121"/>
                </a:solidFill>
                <a:latin typeface="Helvetica Neue"/>
              </a:rPr>
              <a:t>So the question that prices an activist position is:</a:t>
            </a:r>
          </a:p>
          <a:p>
            <a:pPr algn="l">
              <a:spcAft>
                <a:spcPts val="1400"/>
              </a:spcAft>
            </a:pPr>
            <a:r>
              <a:rPr sz="2100" b="1">
                <a:solidFill>
                  <a:srgbClr val="212121"/>
                </a:solidFill>
                <a:latin typeface="Helvetica Neue"/>
              </a:rPr>
              <a:t>does a takeover arrive, and at what premium?</a:t>
            </a:r>
          </a:p>
          <a:p>
            <a:pPr algn="l">
              <a:spcAft>
                <a:spcPts val="1000"/>
              </a:spcAft>
            </a:pPr>
            <a:r>
              <a:rPr sz="1650" b="0">
                <a:solidFill>
                  <a:srgbClr val="212121"/>
                </a:solidFill>
                <a:latin typeface="Helvetica Neue"/>
              </a:rPr>
              <a:t>Both depend on what the market can infer about engagement before anything is announced — i.e., on </a:t>
            </a:r>
            <a:r>
              <a:rPr sz="1650" b="1">
                <a:solidFill>
                  <a:srgbClr val="212121"/>
                </a:solidFill>
                <a:latin typeface="Helvetica Neue"/>
              </a:rPr>
              <a:t>trading conditions</a:t>
            </a:r>
            <a:r>
              <a:rPr sz="1650" b="0">
                <a:solidFill>
                  <a:srgbClr val="212121"/>
                </a:solidFill>
                <a:latin typeface="Helvetica Neue"/>
              </a:rPr>
              <a:t> and </a:t>
            </a:r>
            <a:r>
              <a:rPr sz="1650" b="1">
                <a:solidFill>
                  <a:srgbClr val="212121"/>
                </a:solidFill>
                <a:latin typeface="Helvetica Neue"/>
              </a:rPr>
              <a:t>disclosure rules</a:t>
            </a:r>
            <a:r>
              <a:rPr sz="165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A5A5A"/>
                </a:solidFill>
                <a:latin typeface="Helvetica Neue"/>
              </a:rPr>
              <a:t>Informed trading moves prices ahead of 13D filings (Collin-Dufresne–Fos 2015): the market is watching order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01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Two policy levers, one information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385816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385816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spc="110">
                <a:solidFill>
                  <a:srgbClr val="1F3A5F"/>
                </a:solidFill>
                <a:latin typeface="Helvetica Neue"/>
              </a:rPr>
              <a:t>LIQUIDITY — CAN YOU TRADE UNSEEN?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14600"/>
            <a:ext cx="4892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Noise trading is </a:t>
            </a:r>
            <a:r>
              <a:rPr sz="1500" b="1">
                <a:solidFill>
                  <a:srgbClr val="212121"/>
                </a:solidFill>
                <a:latin typeface="Helvetica Neue"/>
              </a:rPr>
              <a:t>camouflage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: it lets a blockholder accumulate or exit without moving the price.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But camouflage cuts both ways — it also stops the market from </a:t>
            </a:r>
            <a:r>
              <a:rPr sz="1500" b="1">
                <a:solidFill>
                  <a:srgbClr val="212121"/>
                </a:solidFill>
                <a:latin typeface="Helvetica Neue"/>
              </a:rPr>
              <a:t>seeing value being created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Tick sizes, dark pools, retail flow, index churn: all shift this dial. Regulators move it constantly.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783080"/>
            <a:ext cx="5385816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54496" y="1783080"/>
            <a:ext cx="5385816" cy="41148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spc="110">
                <a:solidFill>
                  <a:srgbClr val="44AA99"/>
                </a:solidFill>
                <a:latin typeface="Helvetica Neue"/>
              </a:rPr>
              <a:t>DISCLOSURE — WHEN MUST YOU SHOW YOUR HAND?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14600"/>
            <a:ext cx="4892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Schedule 13D: crossing </a:t>
            </a:r>
            <a:r>
              <a:rPr sz="1500" b="1">
                <a:solidFill>
                  <a:srgbClr val="212121"/>
                </a:solidFill>
                <a:latin typeface="Helvetica Neue"/>
              </a:rPr>
              <a:t>5%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 with intent forces a public filing — engagement becomes observable.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Below the trigger, engagement can only be </a:t>
            </a:r>
            <a:r>
              <a:rPr sz="1500" b="1">
                <a:solidFill>
                  <a:srgbClr val="212121"/>
                </a:solidFill>
                <a:latin typeface="Helvetica Neue"/>
              </a:rPr>
              <a:t>inferred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 from order flow. The rule partitions the information regime.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US window: 10 calendar days → </a:t>
            </a:r>
            <a:r>
              <a:rPr sz="1350" b="1">
                <a:solidFill>
                  <a:srgbClr val="5A5A5A"/>
                </a:solidFill>
                <a:latin typeface="Helvetica Neue"/>
              </a:rPr>
              <a:t>5 business days</a:t>
            </a:r>
            <a:r>
              <a:rPr sz="1350" b="0">
                <a:solidFill>
                  <a:srgbClr val="5A5A5A"/>
                </a:solidFill>
                <a:latin typeface="Helvetica Neue"/>
              </a:rPr>
              <a:t> (Feb 2024). UK: 3% / 2 days. The lever is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01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2024: the SEC halved the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743200"/>
            <a:ext cx="10881360" cy="0"/>
          </a:xfrm>
          <a:prstGeom prst="bentConnector3">
            <a:avLst/>
          </a:prstGeom>
          <a:ln w="25400">
            <a:solidFill>
              <a:srgbClr val="5A5A5A"/>
            </a:solidFill>
            <a:tailEnd type="triangle" w="med" len="med"/>
          </a:ln>
          <a:effectLst/>
        </p:spPr>
      </p:cxnSp>
      <p:sp>
        <p:nvSpPr>
          <p:cNvPr id="9" name="Oval 8"/>
          <p:cNvSpPr/>
          <p:nvPr/>
        </p:nvSpPr>
        <p:spPr>
          <a:xfrm>
            <a:off x="1394460" y="2674620"/>
            <a:ext cx="137160" cy="1371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Helvetica Neue"/>
              </a:rPr>
              <a:t>1968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99232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999232"/>
            <a:ext cx="1920240" cy="41148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12724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212121"/>
                </a:solidFill>
                <a:latin typeface="Helvetica Neue"/>
              </a:rPr>
              <a:t>Williams Act:
13D regime born</a:t>
            </a:r>
          </a:p>
        </p:txBody>
      </p:sp>
      <p:sp>
        <p:nvSpPr>
          <p:cNvPr id="14" name="Oval 13"/>
          <p:cNvSpPr/>
          <p:nvPr/>
        </p:nvSpPr>
        <p:spPr>
          <a:xfrm>
            <a:off x="4137660" y="2674620"/>
            <a:ext cx="137160" cy="1371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Helvetica Neue"/>
              </a:rPr>
              <a:t>2011–22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999232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46120" y="2999232"/>
            <a:ext cx="1920240" cy="41148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37560" y="312724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212121"/>
                </a:solidFill>
                <a:latin typeface="Helvetica Neue"/>
              </a:rPr>
              <a:t>Petitions &amp; debate:
10-day gap criticized</a:t>
            </a:r>
          </a:p>
        </p:txBody>
      </p:sp>
      <p:sp>
        <p:nvSpPr>
          <p:cNvPr id="19" name="Oval 18"/>
          <p:cNvSpPr/>
          <p:nvPr/>
        </p:nvSpPr>
        <p:spPr>
          <a:xfrm>
            <a:off x="6880860" y="2674620"/>
            <a:ext cx="137160" cy="1371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89320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Helvetica Neue"/>
              </a:rPr>
              <a:t>Oct 2023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2999232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89320" y="2999232"/>
            <a:ext cx="1920240" cy="41148"/>
          </a:xfrm>
          <a:prstGeom prst="rect">
            <a:avLst/>
          </a:prstGeom>
          <a:solidFill>
            <a:srgbClr val="88CC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312724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212121"/>
                </a:solidFill>
                <a:latin typeface="Helvetica Neue"/>
              </a:rPr>
              <a:t>Rule 33-11253
adopted</a:t>
            </a:r>
          </a:p>
        </p:txBody>
      </p:sp>
      <p:sp>
        <p:nvSpPr>
          <p:cNvPr id="24" name="Oval 23"/>
          <p:cNvSpPr/>
          <p:nvPr/>
        </p:nvSpPr>
        <p:spPr>
          <a:xfrm>
            <a:off x="9624060" y="2674620"/>
            <a:ext cx="137160" cy="1371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32520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Helvetica Neue"/>
              </a:rPr>
              <a:t>Feb 5, 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2999232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32520" y="2999232"/>
            <a:ext cx="192024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23960" y="312724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212121"/>
                </a:solidFill>
                <a:latin typeface="Helvetica Neue"/>
              </a:rPr>
              <a:t>5 business days
in force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091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50" b="0">
                <a:solidFill>
                  <a:srgbClr val="212121"/>
                </a:solidFill>
                <a:latin typeface="Helvetica Neue"/>
              </a:rPr>
              <a:t>A regulator just compressed the </a:t>
            </a:r>
            <a:r>
              <a:rPr sz="1750" b="1">
                <a:solidFill>
                  <a:srgbClr val="212121"/>
                </a:solidFill>
                <a:latin typeface="Helvetica Neue"/>
              </a:rPr>
              <a:t>pre-disclosure accumulation window</a:t>
            </a:r>
            <a:r>
              <a:rPr sz="1750" b="0">
                <a:solidFill>
                  <a:srgbClr val="212121"/>
                </a:solidFill>
                <a:latin typeface="Helvetica Neue"/>
              </a:rPr>
              <a:t> — the exact margin this framework prices.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That makes the theory testable now: filings, returns, and liquidity around 2024-02-05 are the natural experiment.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01 ·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938528"/>
            <a:ext cx="64008" cy="2103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1901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THE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240280"/>
            <a:ext cx="9509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12121"/>
                </a:solidFill>
                <a:latin typeface="Helvetica Neue"/>
              </a:rPr>
              <a:t>How do market liquidity and disclosure rules shape the takeover premia that minority shareholders receive?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434840"/>
            <a:ext cx="9326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5A5A5A"/>
                </a:solidFill>
                <a:latin typeface="Helvetica Neue"/>
              </a:rPr>
              <a:t>A single equilibrium framework: a blockholder who can exit, hold, or engage — quietly or publicly — a market pricing order flow, and a bidder reading both.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01 ·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Three literatures, one missing piece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547872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47872" cy="41148"/>
          </a:xfrm>
          <a:prstGeom prst="rect">
            <a:avLst/>
          </a:prstGeom>
          <a:solidFill>
            <a:srgbClr val="EE6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0299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60">
                <a:solidFill>
                  <a:srgbClr val="212121"/>
                </a:solidFill>
                <a:latin typeface="Helvetica Neue"/>
              </a:rPr>
              <a:t>EXIT VS 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487168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Blockholder governance: liquidity both disciplines (cheap accumulation) and tempts exit.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Helvetica Neue"/>
              </a:rPr>
              <a:t>Hirschman 1970; Maug 1998; Edmans 2009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783080"/>
            <a:ext cx="3547872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25112" y="1783080"/>
            <a:ext cx="3547872" cy="41148"/>
          </a:xfrm>
          <a:prstGeom prst="rect">
            <a:avLst/>
          </a:prstGeom>
          <a:solidFill>
            <a:srgbClr val="88CC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20299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60">
                <a:solidFill>
                  <a:srgbClr val="212121"/>
                </a:solidFill>
                <a:latin typeface="Helvetica Neue"/>
              </a:rPr>
              <a:t>INFORMED TRADING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487168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Microstructure: order flow moves prices; noise is camouflage.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Helvetica Neue"/>
              </a:rPr>
              <a:t>Kyle 1985; Glosten–Milgrom 1985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1783080"/>
            <a:ext cx="3547872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4" y="1783080"/>
            <a:ext cx="3547872" cy="41148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20299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60">
                <a:solidFill>
                  <a:srgbClr val="212121"/>
                </a:solidFill>
                <a:latin typeface="Helvetica Neue"/>
              </a:rPr>
              <a:t>TAKEOVER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487168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Prices feed back into real decisions — including bids.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Helvetica Neue"/>
              </a:rPr>
              <a:t>Grossman–Hart 1980; Edmans–Goldstein–Jiang 2015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1091672" cy="1371600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Helvetica Neue"/>
              </a:rPr>
              <a:t>Closest trio: Ordóñez-Calafí &amp; Bernhardt 2022 (threshold design), Corum &amp; Levit 2019 (activists as bidder catalysts), Cetemen et al. 2026 (dynamic trade timing).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Helvetica Neue"/>
              </a:rPr>
              <a:t>This paper: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 stake-triggered disclosure partitions order-flow inference into disclosed and nondisclosed branches — and that inference feeds endogenous bidder entry.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02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The model in one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39572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2395728" cy="41148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212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60">
                <a:solidFill>
                  <a:srgbClr val="212121"/>
                </a:solidFill>
                <a:latin typeface="Helvetica Neue"/>
              </a:rPr>
              <a:t>NATURE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70048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12121"/>
                </a:solidFill>
                <a:latin typeface="Helvetica Neue"/>
              </a:rPr>
              <a:t>Value v drawn; blockholder sees private signal 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2990088"/>
            <a:ext cx="365760" cy="0"/>
          </a:xfrm>
          <a:prstGeom prst="bentConnector3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3447288" y="1965960"/>
            <a:ext cx="239572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47288" y="1965960"/>
            <a:ext cx="2395728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48456" y="2212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60">
                <a:solidFill>
                  <a:srgbClr val="1F3A5F"/>
                </a:solidFill>
                <a:latin typeface="Helvetica Neue"/>
              </a:rPr>
              <a:t>TRADING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2670048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12121"/>
                </a:solidFill>
                <a:latin typeface="Helvetica Neue"/>
              </a:rPr>
              <a:t>Chooses action; noise traders mix in; market prices order flow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16168" y="2990088"/>
            <a:ext cx="365760" cy="0"/>
          </a:xfrm>
          <a:prstGeom prst="bentConnector3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6345936" y="1965960"/>
            <a:ext cx="239572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45936" y="1965960"/>
            <a:ext cx="2395728" cy="41148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47104" y="2212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60">
                <a:solidFill>
                  <a:srgbClr val="1F3A5F"/>
                </a:solidFill>
                <a:latin typeface="Helvetica Neue"/>
              </a:rPr>
              <a:t>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670048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12121"/>
                </a:solidFill>
                <a:latin typeface="Helvetica Neue"/>
              </a:rPr>
              <a:t>Bidder reads price &amp; disclosure, decides whether to bid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14816" y="2990088"/>
            <a:ext cx="365760" cy="0"/>
          </a:xfrm>
          <a:prstGeom prst="bentConnector3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</p:cxnSp>
      <p:sp>
        <p:nvSpPr>
          <p:cNvPr id="23" name="Rectangle 22"/>
          <p:cNvSpPr/>
          <p:nvPr/>
        </p:nvSpPr>
        <p:spPr>
          <a:xfrm>
            <a:off x="9244584" y="1965960"/>
            <a:ext cx="239572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44584" y="1965960"/>
            <a:ext cx="2395728" cy="41148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45752" y="2212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60">
                <a:solidFill>
                  <a:srgbClr val="212121"/>
                </a:solidFill>
                <a:latin typeface="Helvetica Neue"/>
              </a:rPr>
              <a:t>PAYOFFS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2670048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12121"/>
                </a:solidFill>
                <a:latin typeface="Helvetica Neue"/>
              </a:rPr>
              <a:t>Takeover premium or standalone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17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One round of trading, one potential bidder — the cleanest lab for the question. κ = share of noise trades (the liquidity dial).</a:t>
            </a:r>
          </a:p>
          <a:p>
            <a:pPr algn="l"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Crucially, the bidder </a:t>
            </a:r>
            <a:r>
              <a:rPr sz="1550" b="1">
                <a:solidFill>
                  <a:srgbClr val="212121"/>
                </a:solidFill>
                <a:latin typeface="Helvetica Neue"/>
              </a:rPr>
              <a:t>conditions on the price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: information flows from trading to takeover entry. That feedback loop is the engine.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02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The blockholder's four plays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67004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2670048" cy="41148"/>
          </a:xfrm>
          <a:prstGeom prst="rect">
            <a:avLst/>
          </a:prstGeom>
          <a:solidFill>
            <a:srgbClr val="EE6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029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60">
                <a:solidFill>
                  <a:srgbClr val="212121"/>
                </a:solidFill>
                <a:latin typeface="Helvetica Neue"/>
              </a:rPr>
              <a:t>EXIT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8716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Helvetica Neue"/>
              </a:rPr>
              <a:t>Sell the stake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017520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12121"/>
                </a:solidFill>
                <a:latin typeface="Helvetica Neue"/>
              </a:rPr>
              <a:t>Weakest signals: cash out before bad news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1783080"/>
            <a:ext cx="267004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55848" y="1783080"/>
            <a:ext cx="2670048" cy="41148"/>
          </a:xfrm>
          <a:prstGeom prst="rect">
            <a:avLst/>
          </a:prstGeom>
          <a:solidFill>
            <a:srgbClr val="DDCC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75304" y="2029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60">
                <a:solidFill>
                  <a:srgbClr val="212121"/>
                </a:solidFill>
                <a:latin typeface="Helvetica Neue"/>
              </a:rPr>
              <a:t>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48716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Helvetica Neue"/>
              </a:rPr>
              <a:t>Stay passive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3017520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12121"/>
                </a:solidFill>
                <a:latin typeface="Helvetica Neue"/>
              </a:rPr>
              <a:t>Middling signals: not worth the engagement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783080"/>
            <a:ext cx="267004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1783080"/>
            <a:ext cx="2670048" cy="41148"/>
          </a:xfrm>
          <a:prstGeom prst="rect">
            <a:avLst/>
          </a:prstGeom>
          <a:solidFill>
            <a:srgbClr val="88CC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2029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60">
                <a:solidFill>
                  <a:srgbClr val="212121"/>
                </a:solidFill>
                <a:latin typeface="Helvetica Neue"/>
              </a:rPr>
              <a:t>QUIET VOICE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48716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Helvetica Neue"/>
              </a:rPr>
              <a:t>Engage privately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017520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12121"/>
                </a:solidFill>
                <a:latin typeface="Helvetica Neue"/>
              </a:rPr>
              <a:t>Good signals: improve the firm below the radar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0264" y="1783080"/>
            <a:ext cx="267004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70264" y="1783080"/>
            <a:ext cx="2670048" cy="41148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20" y="2029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60">
                <a:solidFill>
                  <a:srgbClr val="212121"/>
                </a:solidFill>
                <a:latin typeface="Helvetica Neue"/>
              </a:rPr>
              <a:t>PUBLIC VOICE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48716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Helvetica Neue"/>
              </a:rPr>
              <a:t>Buy + engage + 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017520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12121"/>
                </a:solidFill>
                <a:latin typeface="Helvetica Neue"/>
              </a:rPr>
              <a:t>Best signals: scale up and trigger disclosure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97280" y="5138928"/>
            <a:ext cx="10012680" cy="0"/>
          </a:xfrm>
          <a:prstGeom prst="bentConnector3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2011680" y="53218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50">
                <a:solidFill>
                  <a:srgbClr val="5A5A5A"/>
                </a:solidFill>
                <a:latin typeface="Helvetica Neue"/>
              </a:rPr>
              <a:t>private signal s  →  cutoff ladder</a:t>
            </a:r>
          </a:p>
        </p:txBody>
      </p:sp>
      <p:pic>
        <p:nvPicPr>
          <p:cNvPr id="30" name="Picture 29" descr="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820" y="5322951"/>
            <a:ext cx="1378457" cy="21717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498079" y="53218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A5A5A"/>
                </a:solidFill>
                <a:latin typeface="Helvetica Neue"/>
              </a:rPr>
              <a:t>(a theorem, not an assumption)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02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Why liquidity matters twice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2240280" cy="11887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67004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spc="160">
                <a:solidFill>
                  <a:srgbClr val="C9D6E8"/>
                </a:solidFill>
                <a:latin typeface="Helvetica Neue"/>
              </a:rPr>
              <a:t>ORDER FLOW</a:t>
            </a:r>
          </a:p>
        </p:txBody>
      </p:sp>
      <p:pic>
        <p:nvPicPr>
          <p:cNvPr id="10" name="Picture 9" descr="node_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249" y="3252521"/>
            <a:ext cx="277063" cy="224942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2852928" y="3108960"/>
            <a:ext cx="1133856" cy="0"/>
          </a:xfrm>
          <a:prstGeom prst="bentConnector3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</p:cxnSp>
      <p:sp>
        <p:nvSpPr>
          <p:cNvPr id="12" name="Rounded Rectangle 11"/>
          <p:cNvSpPr/>
          <p:nvPr/>
        </p:nvSpPr>
        <p:spPr>
          <a:xfrm>
            <a:off x="3502152" y="2514600"/>
            <a:ext cx="2240280" cy="1188720"/>
          </a:xfrm>
          <a:prstGeom prst="roundRect">
            <a:avLst>
              <a:gd name="adj" fmla="val 10000"/>
            </a:avLst>
          </a:prstGeom>
          <a:solidFill>
            <a:srgbClr val="88CC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02152" y="267004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spc="160">
                <a:solidFill>
                  <a:srgbClr val="212121"/>
                </a:solidFill>
                <a:latin typeface="Helvetica Neue"/>
              </a:rPr>
              <a:t>MARKET BELIEF</a:t>
            </a:r>
          </a:p>
        </p:txBody>
      </p:sp>
      <p:pic>
        <p:nvPicPr>
          <p:cNvPr id="14" name="Picture 13" descr="node_beli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76" y="3241548"/>
            <a:ext cx="729233" cy="246888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5806440" y="3108960"/>
            <a:ext cx="1133856" cy="0"/>
          </a:xfrm>
          <a:prstGeom prst="bentConnector3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</p:cxnSp>
      <p:sp>
        <p:nvSpPr>
          <p:cNvPr id="16" name="Rounded Rectangle 15"/>
          <p:cNvSpPr/>
          <p:nvPr/>
        </p:nvSpPr>
        <p:spPr>
          <a:xfrm>
            <a:off x="6446520" y="2514600"/>
            <a:ext cx="2240280" cy="1188720"/>
          </a:xfrm>
          <a:prstGeom prst="roundRect">
            <a:avLst>
              <a:gd name="adj" fmla="val 10000"/>
            </a:avLst>
          </a:prstGeom>
          <a:solidFill>
            <a:srgbClr val="DDCC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67004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spc="160">
                <a:solidFill>
                  <a:srgbClr val="212121"/>
                </a:solidFill>
                <a:latin typeface="Helvetica Neue"/>
              </a:rPr>
              <a:t>PRICE</a:t>
            </a:r>
          </a:p>
        </p:txBody>
      </p:sp>
      <p:pic>
        <p:nvPicPr>
          <p:cNvPr id="18" name="Picture 17" descr="node_p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041" y="3241548"/>
            <a:ext cx="761238" cy="246888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8750808" y="3108960"/>
            <a:ext cx="1133856" cy="0"/>
          </a:xfrm>
          <a:prstGeom prst="bentConnector3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</p:cxnSp>
      <p:sp>
        <p:nvSpPr>
          <p:cNvPr id="20" name="Rounded Rectangle 19"/>
          <p:cNvSpPr/>
          <p:nvPr/>
        </p:nvSpPr>
        <p:spPr>
          <a:xfrm>
            <a:off x="9400032" y="2514600"/>
            <a:ext cx="2240280" cy="1188720"/>
          </a:xfrm>
          <a:prstGeom prst="roundRect">
            <a:avLst>
              <a:gd name="adj" fmla="val 10000"/>
            </a:avLst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0032" y="267004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spc="160">
                <a:solidFill>
                  <a:srgbClr val="FFFFFF"/>
                </a:solidFill>
                <a:latin typeface="Helvetica Neue"/>
              </a:rPr>
              <a:t>BID ENTRY</a:t>
            </a:r>
          </a:p>
        </p:txBody>
      </p:sp>
      <p:pic>
        <p:nvPicPr>
          <p:cNvPr id="22" name="Picture 21" descr="nod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275" y="3259379"/>
            <a:ext cx="183794" cy="21122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12121"/>
                </a:solidFill>
                <a:latin typeface="Helvetica Neue"/>
              </a:rPr>
              <a:t>Noise as cover (+):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 more noise → lower prices on average → takeovers get cheaper → more bids arrive.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212121"/>
                </a:solidFill>
                <a:latin typeface="Helvetica Neue"/>
              </a:rPr>
              <a:t>Noise as fog (−):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 more noise → order flow says less about engagement → the activism premium the market can price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erodes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A5A5A"/>
                </a:solidFill>
                <a:latin typeface="Helvetica Neue"/>
              </a:rPr>
              <a:t>Disclosure (D = 1) bypasses the fog entirely — engagement is observed, not inferred. That asymmetry drives the policy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02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What the market sees: two information regimes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385816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385816" cy="41148"/>
          </a:xfrm>
          <a:prstGeom prst="rect">
            <a:avLst/>
          </a:prstGeom>
          <a:solidFill>
            <a:srgbClr val="88CC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spc="160">
                <a:solidFill>
                  <a:srgbClr val="212121"/>
                </a:solidFill>
                <a:latin typeface="Helvetica Neue"/>
              </a:rPr>
              <a:t>QUIET (D = 0) —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60320"/>
            <a:ext cx="4892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Engagement is </a:t>
            </a:r>
            <a:r>
              <a:rPr sz="1550" b="1">
                <a:solidFill>
                  <a:srgbClr val="212121"/>
                </a:solidFill>
                <a:latin typeface="Helvetica Neue"/>
              </a:rPr>
              <a:t>guessed from order flow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Liquidity κ governs how good the guess is.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Helvetica Neue"/>
              </a:rPr>
              <a:t>Hold and quiet voice look identical in the tape — by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783080"/>
            <a:ext cx="5385816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54496" y="1783080"/>
            <a:ext cx="5385816" cy="41148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spc="160">
                <a:solidFill>
                  <a:srgbClr val="212121"/>
                </a:solidFill>
                <a:latin typeface="Helvetica Neue"/>
              </a:rPr>
              <a:t>PUBLIC (D = 1) —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60320"/>
            <a:ext cx="4892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The 13D filing makes engagement </a:t>
            </a:r>
            <a:r>
              <a:rPr sz="1550" b="1">
                <a:solidFill>
                  <a:srgbClr val="212121"/>
                </a:solidFill>
                <a:latin typeface="Helvetica Neue"/>
              </a:rPr>
              <a:t>public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Prices stop depending on κ at all.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Helvetica Neue"/>
              </a:rPr>
              <a:t>Disclosure is an information-regime switch, not just paperwork.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The disclosure rule decides </a:t>
            </a:r>
            <a:r>
              <a:rPr sz="1550" b="1">
                <a:solidFill>
                  <a:srgbClr val="212121"/>
                </a:solidFill>
                <a:latin typeface="Helvetica Neue"/>
              </a:rPr>
              <a:t>how much of the market lives in each regime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 — that is what makes it a design object.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03 · RESULTS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Liquidity has a sweet spot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13</a:t>
            </a:r>
          </a:p>
        </p:txBody>
      </p:sp>
      <p:pic>
        <p:nvPicPr>
          <p:cNvPr id="8" name="Picture 7" descr="nonmonot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669280" cy="38793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37960" y="1828800"/>
            <a:ext cx="5074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50" b="0">
                <a:solidFill>
                  <a:srgbClr val="212121"/>
                </a:solidFill>
                <a:latin typeface="Helvetica Neue"/>
              </a:rPr>
              <a:t>Expected takeover gains to minority shareholders are </a:t>
            </a:r>
            <a:r>
              <a:rPr sz="1650" b="1">
                <a:solidFill>
                  <a:srgbClr val="212121"/>
                </a:solidFill>
                <a:latin typeface="Helvetica Neue"/>
              </a:rPr>
              <a:t>hump-shaped</a:t>
            </a:r>
            <a:r>
              <a:rPr sz="1650" b="0">
                <a:solidFill>
                  <a:srgbClr val="212121"/>
                </a:solidFill>
                <a:latin typeface="Helvetica Neue"/>
              </a:rPr>
              <a:t> in liquidity.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Too little noise: bidders stay away — prices are too informative, deals too expensive.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Too much noise: bids come, but the </a:t>
            </a:r>
            <a:r>
              <a:rPr sz="1500" b="1">
                <a:solidFill>
                  <a:srgbClr val="212121"/>
                </a:solidFill>
                <a:latin typeface="Helvetica Neue"/>
              </a:rPr>
              <a:t>activism premium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 the market can price has evaporated.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4617720"/>
            <a:ext cx="5074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37960" y="4617720"/>
            <a:ext cx="50749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93992" y="48280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THE PEAK</a:t>
            </a:r>
          </a:p>
        </p:txBody>
      </p:sp>
      <p:pic>
        <p:nvPicPr>
          <p:cNvPr id="13" name="Picture 12" descr="kda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5245608"/>
            <a:ext cx="1227124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32520" y="5138928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A5A5A"/>
                </a:solidFill>
                <a:latin typeface="Helvetica Neue"/>
              </a:rPr>
              <a:t>cover and visibility in 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Helvetica Neue"/>
              </a:rPr>
              <a:t>Minority takeover gains Δ-min vs noise-trading intensity κ; baseline calibration.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03 · RESULTS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Why: cover vs camouflage, in one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14</a:t>
            </a:r>
          </a:p>
        </p:txBody>
      </p:sp>
      <p:pic>
        <p:nvPicPr>
          <p:cNvPr id="8" name="Picture 7" descr="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669280" cy="39764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37960" y="1828800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Split the gains into two books: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12121"/>
                </a:solidFill>
                <a:latin typeface="Helvetica Neue"/>
              </a:rPr>
              <a:t>Base book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 — premium that arrives regardless of activism. Rises with noise: cover brings bids.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12121"/>
                </a:solidFill>
                <a:latin typeface="Helvetica Neue"/>
              </a:rPr>
              <a:t>Activism book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 — premium tied to the market believing engagement is happening. Hump-shaped: inference dies with noise.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The activism book's peak sets the overall sweet spot.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Helvetica Neue"/>
              </a:rPr>
              <a:t>Decomposition of Δ-min into base and activism components across κ.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03 · RESULTS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Who captures the prize: tender-game arithmetic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15</a:t>
            </a:r>
          </a:p>
        </p:txBody>
      </p:sp>
      <p:pic>
        <p:nvPicPr>
          <p:cNvPr id="8" name="Picture 7" descr="w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263640" cy="240689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40880" y="1783080"/>
            <a:ext cx="4599432" cy="13898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a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816" y="2115008"/>
            <a:ext cx="2737561" cy="3785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0880" y="2724912"/>
            <a:ext cx="4599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C9D6E8"/>
                </a:solidFill>
                <a:latin typeface="Helvetica Neue"/>
              </a:rPr>
              <a:t>how much of the improvement the activist's side keeps</a:t>
            </a:r>
          </a:p>
        </p:txBody>
      </p:sp>
      <p:pic>
        <p:nvPicPr>
          <p:cNvPr id="12" name="Picture 11" descr="sym_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3502305"/>
            <a:ext cx="138684" cy="1642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79792" y="3438144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Helvetica Neue"/>
              </a:rPr>
              <a:t>— chance a rival raider shows up</a:t>
            </a:r>
          </a:p>
        </p:txBody>
      </p:sp>
      <p:pic>
        <p:nvPicPr>
          <p:cNvPr id="14" name="Picture 13" descr="sym_gamm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4014369"/>
            <a:ext cx="155752" cy="16428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79792" y="3950208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Helvetica Neue"/>
              </a:rPr>
              <a:t>— does the improvement survive a change of control?</a:t>
            </a:r>
          </a:p>
        </p:txBody>
      </p:sp>
      <p:pic>
        <p:nvPicPr>
          <p:cNvPr id="16" name="Picture 15" descr="sym_ps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4502963"/>
            <a:ext cx="174955" cy="21122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79792" y="4462272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Helvetica Neue"/>
              </a:rPr>
              <a:t>— can the bloc's stake block the raid?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PREMIUM WEDGE</a:t>
            </a:r>
          </a:p>
        </p:txBody>
      </p:sp>
      <p:pic>
        <p:nvPicPr>
          <p:cNvPr id="19" name="Picture 18" descr="wed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032" y="5303520"/>
            <a:ext cx="2037587" cy="2304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14032" y="56509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Helvetica Neue"/>
              </a:rPr>
              <a:t>derived from a free-rider tender game — not assumed.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Helvetica Neue"/>
              </a:rPr>
              <a:t>Appropriability λ across game primitives (q, γ, ψ).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03 · RESULTS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The puzzle this solves: premia that fall on arrival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440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50" b="0">
                <a:solidFill>
                  <a:srgbClr val="212121"/>
                </a:solidFill>
                <a:latin typeface="Helvetica Neue"/>
              </a:rPr>
              <a:t>Structural estimates (Celentano–Levine 2025) find bid premia </a:t>
            </a:r>
            <a:r>
              <a:rPr sz="1650" b="1">
                <a:solidFill>
                  <a:srgbClr val="212121"/>
                </a:solidFill>
                <a:latin typeface="Helvetica Neue"/>
              </a:rPr>
              <a:t>13.7% lower</a:t>
            </a:r>
            <a:r>
              <a:rPr sz="1650" b="0">
                <a:solidFill>
                  <a:srgbClr val="212121"/>
                </a:solidFill>
                <a:latin typeface="Helvetica Neue"/>
              </a:rPr>
              <a:t> with an activist in the deal.</a:t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Contradiction with 'activism creates value'? No.</a:t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The measured premium divides the offer by a market price that </a:t>
            </a:r>
            <a:r>
              <a:rPr sz="1550" b="1">
                <a:solidFill>
                  <a:srgbClr val="212121"/>
                </a:solidFill>
                <a:latin typeface="Helvetica Neue"/>
              </a:rPr>
              <a:t>already banks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 the activist's work (AFS 2022: 13D returns are ~3/4 anticipated treatment).</a:t>
            </a:r>
          </a:p>
          <a:p>
            <a:pPr algn="l"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When appropriability λ is low, the denominator outruns the numerator: measured premia fall even though the true wedge m₁ ≥ m₀ never flips.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828800"/>
            <a:ext cx="5184648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46520" y="1828800"/>
            <a:ext cx="5184648" cy="41148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2084831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212121"/>
                </a:solidFill>
                <a:latin typeface="Helvetica Neue"/>
              </a:rPr>
              <a:t>What our wedge adds vs the board-bargaining story: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Their effect moves only with activist </a:t>
            </a:r>
            <a:r>
              <a:rPr sz="1400" b="1">
                <a:solidFill>
                  <a:srgbClr val="212121"/>
                </a:solidFill>
                <a:latin typeface="Helvetica Neue"/>
              </a:rPr>
              <a:t>presence</a:t>
            </a:r>
            <a:r>
              <a:rPr sz="140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Ours is indexed by </a:t>
            </a:r>
            <a:r>
              <a:rPr sz="1400" b="1">
                <a:solidFill>
                  <a:srgbClr val="212121"/>
                </a:solidFill>
                <a:latin typeface="Helvetica Neue"/>
              </a:rPr>
              <a:t>observables</a:t>
            </a:r>
            <a:r>
              <a:rPr sz="1400" b="0">
                <a:solidFill>
                  <a:srgbClr val="212121"/>
                </a:solidFill>
                <a:latin typeface="Helvetica Neue"/>
              </a:rPr>
              <a:t>: acquirer type (γ), rival pressure (q), stake pivotality (ψ), liquidity (κ).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→ It predicts </a:t>
            </a:r>
            <a:r>
              <a:rPr sz="1400" b="1">
                <a:solidFill>
                  <a:srgbClr val="212121"/>
                </a:solidFill>
                <a:latin typeface="Helvetica Neue"/>
              </a:rPr>
              <a:t>where the sign flips</a:t>
            </a:r>
            <a:r>
              <a:rPr sz="1400" b="0">
                <a:solidFill>
                  <a:srgbClr val="212121"/>
                </a:solidFill>
                <a:latin typeface="Helvetica Neue"/>
              </a:rPr>
              <a:t>: portable improvements, pivotal blocs, cold fringe markets.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Helvetica Neue"/>
              </a:rPr>
              <a:t>Different cross-sections, testable against each other.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03 · RESULTS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How robust is the sweet spot? Now a theorem — with edges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17</a:t>
            </a:r>
          </a:p>
        </p:txBody>
      </p:sp>
      <p:pic>
        <p:nvPicPr>
          <p:cNvPr id="8" name="Picture 7" descr="ge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263640" cy="24068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0880" y="1828800"/>
            <a:ext cx="45994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On a </a:t>
            </a:r>
            <a:r>
              <a:rPr sz="1500" b="1">
                <a:solidFill>
                  <a:srgbClr val="212121"/>
                </a:solidFill>
                <a:latin typeface="Helvetica Neue"/>
              </a:rPr>
              <a:t>certified range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 of the liquidity dial, the hump is a theorem: equilibrium feedback provably cannot overturn it.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Outside it, the warning is real: when bidders barely react to premia, the hump </a:t>
            </a:r>
            <a:r>
              <a:rPr sz="1500" b="1">
                <a:solidFill>
                  <a:srgbClr val="212121"/>
                </a:solidFill>
                <a:latin typeface="Helvetica Neue"/>
              </a:rPr>
              <a:t>inverts into a trough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 — certified, not hypothetical.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370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CERTIFIED RANGE</a:t>
            </a:r>
          </a:p>
        </p:txBody>
      </p:sp>
      <p:pic>
        <p:nvPicPr>
          <p:cNvPr id="11" name="Picture 10" descr="range_c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668012"/>
            <a:ext cx="1474469" cy="246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55480" y="4370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INVERSION CASE</a:t>
            </a:r>
          </a:p>
        </p:txBody>
      </p:sp>
      <p:pic>
        <p:nvPicPr>
          <p:cNvPr id="13" name="Picture 12" descr="sigx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4673727"/>
            <a:ext cx="838962" cy="23545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5212080"/>
            <a:ext cx="4599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Practical read: the liquidity sweet spot is strongest where takeover entry is most sensitive to expected resistance.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Helvetica Neue"/>
              </a:rPr>
              <a:t>GE channel decomposition; certified region and the σ_ξ = 0.60 inversion.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03 · RESULTS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Disclosure turns the liquidity dial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18</a:t>
            </a:r>
          </a:p>
        </p:txBody>
      </p:sp>
      <p:pic>
        <p:nvPicPr>
          <p:cNvPr id="8" name="Picture 7" descr="slo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263640" cy="36225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0880" y="1828800"/>
            <a:ext cx="45994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Disclosed states don't depend on liquidity — so the more engagement happens in public, the </a:t>
            </a:r>
            <a:r>
              <a:rPr sz="1550" b="1">
                <a:solidFill>
                  <a:srgbClr val="212121"/>
                </a:solidFill>
                <a:latin typeface="Helvetica Neue"/>
              </a:rPr>
              <a:t>flatter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 the liquidity–premium relationship.</a:t>
            </a:r>
          </a:p>
          <a:p>
            <a:pPr algn="l">
              <a:spcAft>
                <a:spcPts val="12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Disclosure and liquidity are </a:t>
            </a:r>
            <a:r>
              <a:rPr sz="1550" b="1">
                <a:solidFill>
                  <a:srgbClr val="212121"/>
                </a:solidFill>
                <a:latin typeface="Helvetica Neue"/>
              </a:rPr>
              <a:t>substitute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 information channels.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Cross-market prediction: tighter regimes (UK 3%/2-day) should show </a:t>
            </a:r>
            <a:r>
              <a:rPr sz="1450" b="1">
                <a:solidFill>
                  <a:srgbClr val="212121"/>
                </a:solidFill>
                <a:latin typeface="Helvetica Neue"/>
              </a:rPr>
              <a:t>muted</a:t>
            </a:r>
            <a:r>
              <a:rPr sz="1450" b="0">
                <a:solidFill>
                  <a:srgbClr val="212121"/>
                </a:solidFill>
                <a:latin typeface="Helvetica Neue"/>
              </a:rPr>
              <a:t> liquidity sensitivity vs the 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Helvetica Neue"/>
              </a:rPr>
              <a:t>Sensitivity of activism gains to κ under baseline vs stricter disclosure.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03 · RESULTS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The transparency paradox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85816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385816" cy="41148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08483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spc="160">
                <a:solidFill>
                  <a:srgbClr val="44AA99"/>
                </a:solidFill>
                <a:latin typeface="Helvetica Neue"/>
              </a:rPr>
              <a:t>TRANSPARENCY (+)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6032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Stricter disclosure reveals engagement → market prices activism → minorities share the gains.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Dominates when engagement is cheap and liquidity moderate.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828800"/>
            <a:ext cx="5385816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54496" y="1828800"/>
            <a:ext cx="5385816" cy="41148"/>
          </a:xfrm>
          <a:prstGeom prst="rect">
            <a:avLst/>
          </a:prstGeom>
          <a:solidFill>
            <a:srgbClr val="EE6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208483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spc="160">
                <a:solidFill>
                  <a:srgbClr val="EE6677"/>
                </a:solidFill>
                <a:latin typeface="Helvetica Neue"/>
              </a:rPr>
              <a:t>DETERRENCE (−)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6032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Forced visibility kills </a:t>
            </a:r>
            <a:r>
              <a:rPr sz="1500" b="1">
                <a:solidFill>
                  <a:srgbClr val="212121"/>
                </a:solidFill>
                <a:latin typeface="Helvetica Neue"/>
              </a:rPr>
              <a:t>quiet voice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: the blockholder exits rather than tip a bidder-deterring hand.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Dominates when engagement is costly — minorities end up worse off.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46320"/>
            <a:ext cx="11091672" cy="960120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084064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Helvetica Neue"/>
              </a:rPr>
              <a:t>Disclosure reform that ignores deterrence can </a:t>
            </a:r>
            <a:r>
              <a:rPr sz="1600" b="1">
                <a:solidFill>
                  <a:srgbClr val="212121"/>
                </a:solidFill>
                <a:latin typeface="Helvetica Neue"/>
              </a:rPr>
              <a:t>destroy the channel it is trying to illuminate</a:t>
            </a:r>
            <a:r>
              <a:rPr sz="1600" b="0">
                <a:solidFill>
                  <a:srgbClr val="212121"/>
                </a:solidFill>
                <a:latin typeface="Helvetica Neue"/>
              </a:rPr>
              <a:t> — the model says when.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04 · EVIDENCE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The clock bit: filings sped up immediately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20</a:t>
            </a:r>
          </a:p>
        </p:txBody>
      </p:sp>
      <p:pic>
        <p:nvPicPr>
          <p:cNvPr id="8" name="Picture 7" descr="fac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263640" cy="460561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40880" y="1783080"/>
            <a:ext cx="45994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40880" y="1783080"/>
            <a:ext cx="4599432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96912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MEDIAN FILING DELAY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228600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Helvetica Neue"/>
              </a:rPr>
              <a:t>7 → 5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31272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FILED WITHIN 5 BUSINESS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34015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12121"/>
                </a:solidFill>
                <a:latin typeface="Helvetica Neue"/>
              </a:rPr>
              <a:t>36% → 76%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389120"/>
            <a:ext cx="4599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Universe of original 13Ds on EDGAR, windows straddling the 2024-02-05 compliance date.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The accumulation window — the model's quiet-trading cover — shrank by force of law.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04 · EVIDENCE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The market noticed: announcement returns moved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21</a:t>
            </a:r>
          </a:p>
        </p:txBody>
      </p:sp>
      <p:pic>
        <p:nvPicPr>
          <p:cNvPr id="8" name="Picture 7" descr="fac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263640" cy="45225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0880" y="1828800"/>
            <a:ext cx="45994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Market-model CARs around 1,513 original 13D filings, 2022–2025; Post = filed under the 5-day rule.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Mean CAR[−1,+1] </a:t>
            </a:r>
            <a:r>
              <a:rPr sz="1400" b="1">
                <a:solidFill>
                  <a:srgbClr val="212121"/>
                </a:solidFill>
                <a:latin typeface="Helvetica Neue"/>
              </a:rPr>
              <a:t>doubles</a:t>
            </a:r>
            <a:r>
              <a:rPr sz="1400" b="0">
                <a:solidFill>
                  <a:srgbClr val="212121"/>
                </a:solidFill>
                <a:latin typeface="Helvetica Neue"/>
              </a:rPr>
              <a:t> post-rule (0.85% → 1.71%; sign as predicted, not significant). Surprises concentrate in </a:t>
            </a:r>
            <a:r>
              <a:rPr sz="1400" b="1">
                <a:solidFill>
                  <a:srgbClr val="212121"/>
                </a:solidFill>
                <a:latin typeface="Helvetica Neue"/>
              </a:rPr>
              <a:t>liquid</a:t>
            </a:r>
            <a:r>
              <a:rPr sz="1400" b="0">
                <a:solidFill>
                  <a:srgbClr val="212121"/>
                </a:solidFill>
                <a:latin typeface="Helvetica Neue"/>
              </a:rPr>
              <a:t> names — the camouflage margin is first-order. The Post×illiquidity interaction is a precise null.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4041648"/>
            <a:ext cx="459943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40880" y="4041648"/>
            <a:ext cx="4599432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96912" y="4224528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1">
                <a:solidFill>
                  <a:srgbClr val="212121"/>
                </a:solidFill>
                <a:latin typeface="Helvetica Neue"/>
              </a:rPr>
              <a:t>β (Post): +1.65pp   (t=0.87)</a:t>
            </a:r>
          </a:p>
          <a:p>
            <a:pPr algn="l">
              <a:spcAft>
                <a:spcPts val="700"/>
              </a:spcAft>
            </a:pPr>
            <a:r>
              <a:rPr sz="1450" b="1">
                <a:solidFill>
                  <a:srgbClr val="212121"/>
                </a:solidFill>
                <a:latin typeface="Helvetica Neue"/>
              </a:rPr>
              <a:t>ln Amihud: -1.43pp   (t=-3.73)</a:t>
            </a:r>
          </a:p>
          <a:p>
            <a:pPr algn="l">
              <a:spcAft>
                <a:spcPts val="700"/>
              </a:spcAft>
            </a:pPr>
            <a:r>
              <a:rPr sz="1450" b="1">
                <a:solidFill>
                  <a:srgbClr val="212121"/>
                </a:solidFill>
                <a:latin typeface="Helvetica Neue"/>
              </a:rPr>
              <a:t>δ (Post × ln Amihud): +0.17pp   (t=0.48)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Helvetica Neue"/>
              </a:rPr>
              <a:t>n = 893 events · two-way clustered SEs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05 ·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For policy: liquidity regulation is governance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22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874519"/>
            <a:ext cx="420624" cy="42062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37943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12121"/>
                </a:solidFill>
                <a:latin typeface="Helvetica Neue"/>
              </a:rPr>
              <a:t>Anything that moves noise trading — tick size regimes, dark-pool rules, PFOF, index flows — </a:t>
            </a:r>
            <a:r>
              <a:rPr sz="1700" b="1">
                <a:solidFill>
                  <a:srgbClr val="212121"/>
                </a:solidFill>
                <a:latin typeface="Helvetica Neue"/>
              </a:rPr>
              <a:t>also moves takeover discipline</a:t>
            </a:r>
            <a:r>
              <a:rPr sz="1700" b="0">
                <a:solidFill>
                  <a:srgbClr val="212121"/>
                </a:solidFill>
                <a:latin typeface="Helvetica Neue"/>
              </a:rPr>
              <a:t>. The two rulebooks are one.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26663"/>
            <a:ext cx="420624" cy="420624"/>
          </a:xfrm>
          <a:prstGeom prst="ellipse">
            <a:avLst/>
          </a:prstGeom>
          <a:solidFill>
            <a:srgbClr val="44AA9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90087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12121"/>
                </a:solidFill>
                <a:latin typeface="Helvetica Neue"/>
              </a:rPr>
              <a:t>Disclosure thresholds and windows are not transparency knobs alone: they reallocate engagement between quiet and public — and can </a:t>
            </a:r>
            <a:r>
              <a:rPr sz="1700" b="1">
                <a:solidFill>
                  <a:srgbClr val="212121"/>
                </a:solidFill>
                <a:latin typeface="Helvetica Neue"/>
              </a:rPr>
              <a:t>deter it outright</a:t>
            </a:r>
            <a:r>
              <a:rPr sz="1700" b="0">
                <a:solidFill>
                  <a:srgbClr val="212121"/>
                </a:solidFill>
                <a:latin typeface="Helvetica Neue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78807"/>
            <a:ext cx="420624" cy="420624"/>
          </a:xfrm>
          <a:prstGeom prst="ellipse">
            <a:avLst/>
          </a:prstGeom>
          <a:solidFill>
            <a:srgbClr val="EE6677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142231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12121"/>
                </a:solidFill>
                <a:latin typeface="Helvetica Neue"/>
              </a:rPr>
              <a:t>The 2024 acceleration traded camouflage for visibility. The model prices that trade; the early data move the predicted 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440679"/>
            <a:ext cx="10652760" cy="731520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605271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Helvetica Neue"/>
              </a:rPr>
              <a:t>Welfare caveat: the κ that maximizes minority gains is </a:t>
            </a:r>
            <a:r>
              <a:rPr sz="1400" b="1">
                <a:solidFill>
                  <a:srgbClr val="5A5A5A"/>
                </a:solidFill>
                <a:latin typeface="Helvetica Neue"/>
              </a:rPr>
              <a:t>not</a:t>
            </a:r>
            <a:r>
              <a:rPr sz="1400" b="0">
                <a:solidFill>
                  <a:srgbClr val="5A5A5A"/>
                </a:solidFill>
                <a:latin typeface="Helvetica Neue"/>
              </a:rPr>
              <a:t> the social optimum — extraction deters some efficient deals.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05 ·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For investors: where activism pays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65959"/>
            <a:ext cx="82296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29383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60">
                <a:solidFill>
                  <a:srgbClr val="212121"/>
                </a:solidFill>
                <a:latin typeface="Helvetica Neue"/>
              </a:rPr>
              <a:t>SCREEN ON LIQUIDITY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92807"/>
            <a:ext cx="7406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Activist targets in </a:t>
            </a:r>
            <a:r>
              <a:rPr sz="1550" b="1">
                <a:solidFill>
                  <a:srgbClr val="212121"/>
                </a:solidFill>
                <a:latin typeface="Helvetica Neue"/>
              </a:rPr>
              <a:t>mid-liquidity</a:t>
            </a:r>
            <a:r>
              <a:rPr sz="1550" b="0">
                <a:solidFill>
                  <a:srgbClr val="212121"/>
                </a:solidFill>
                <a:latin typeface="Helvetica Neue"/>
              </a:rPr>
              <a:t> names carry the largest expected takeover kicker — both tails are weak.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35223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227831"/>
            <a:ext cx="82296" cy="777240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191255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60">
                <a:solidFill>
                  <a:srgbClr val="212121"/>
                </a:solidFill>
                <a:latin typeface="Helvetica Neue"/>
              </a:rPr>
              <a:t>READ THE WEDGE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154679"/>
            <a:ext cx="7406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Premium capture is largest with portable improvements (high γ), pivotal blocs (ψ), and few rival raiders (low q).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97095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489703"/>
            <a:ext cx="82296" cy="777240"/>
          </a:xfrm>
          <a:prstGeom prst="rect">
            <a:avLst/>
          </a:prstGeom>
          <a:solidFill>
            <a:srgbClr val="EE6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453127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60">
                <a:solidFill>
                  <a:srgbClr val="212121"/>
                </a:solidFill>
                <a:latin typeface="Helvetica Neue"/>
              </a:rPr>
              <a:t>MIND THE REGIME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416551"/>
            <a:ext cx="7406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Post-2024, filing-day surprises are larger on average — and they are largest in liquid names, where quiet accumulation hides best.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All three are cross-sectional, sign-testable statements — not calibration folklore.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05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547872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547872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176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60">
                <a:solidFill>
                  <a:srgbClr val="1F3A5F"/>
                </a:solidFill>
                <a:latin typeface="Helvetica Neue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651760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Theory + certified numerics + two facts from the 2024 natural experiment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920240"/>
            <a:ext cx="3547872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25112" y="1920240"/>
            <a:ext cx="3547872" cy="41148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2176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60">
                <a:solidFill>
                  <a:srgbClr val="44AA99"/>
                </a:solidFill>
                <a:latin typeface="Helvetica Neue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651760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Full event-study cross-sections: premia, bid hazards, and liquidity interactions on the 13D universe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1920240"/>
            <a:ext cx="3547872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4" y="1920240"/>
            <a:ext cx="3547872" cy="41148"/>
          </a:xfrm>
          <a:prstGeom prst="rect">
            <a:avLst/>
          </a:prstGeom>
          <a:solidFill>
            <a:srgbClr val="EE6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2176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60">
                <a:solidFill>
                  <a:srgbClr val="EE6677"/>
                </a:solidFill>
                <a:latin typeface="Helvetica Neue"/>
              </a:rPr>
              <a:t>THEN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651760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Structural leg: estimate the engagement-cost distribution from 13D XML microdata — the white space the structural trio left 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49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A5A5A"/>
                </a:solidFill>
                <a:latin typeface="Helvetica Neue"/>
              </a:rPr>
              <a:t>The framework is built so each leg sharpens the same objects: κ, the disclosure rule, and λ.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Three things to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25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965960"/>
            <a:ext cx="475488" cy="47548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47672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50" b="1">
                <a:solidFill>
                  <a:srgbClr val="212121"/>
                </a:solidFill>
                <a:latin typeface="Helvetica Neue"/>
              </a:rPr>
              <a:t>Liquidity has a sweet spot</a:t>
            </a:r>
            <a:r>
              <a:rPr sz="1850" b="0">
                <a:solidFill>
                  <a:srgbClr val="212121"/>
                </a:solidFill>
                <a:latin typeface="Helvetica Neue"/>
              </a:rPr>
              <a:t> — minority takeover gains peak at moderate noise — and we certified when that's a theorem.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136392"/>
            <a:ext cx="475488" cy="475488"/>
          </a:xfrm>
          <a:prstGeom prst="ellipse">
            <a:avLst/>
          </a:prstGeom>
          <a:solidFill>
            <a:srgbClr val="44AA9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118104"/>
            <a:ext cx="8092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50" b="1">
                <a:solidFill>
                  <a:srgbClr val="212121"/>
                </a:solidFill>
                <a:latin typeface="Helvetica Neue"/>
              </a:rPr>
              <a:t>Premia follow tender mechanics</a:t>
            </a:r>
            <a:r>
              <a:rPr sz="1850" b="0">
                <a:solidFill>
                  <a:srgbClr val="212121"/>
                </a:solidFill>
                <a:latin typeface="Helvetica Neue"/>
              </a:rPr>
              <a:t> — appropriability prices who keeps the improvement — and why measured premia can fall.</a:t>
            </a:r>
          </a:p>
        </p:txBody>
      </p:sp>
      <p:pic>
        <p:nvPicPr>
          <p:cNvPr id="12" name="Picture 11" descr="l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852" y="3198572"/>
            <a:ext cx="1666341" cy="230428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777240" y="4306824"/>
            <a:ext cx="475488" cy="475488"/>
          </a:xfrm>
          <a:prstGeom prst="ellipse">
            <a:avLst/>
          </a:prstGeom>
          <a:solidFill>
            <a:srgbClr val="EE6677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88536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50" b="1">
                <a:solidFill>
                  <a:srgbClr val="212121"/>
                </a:solidFill>
                <a:latin typeface="Helvetica Neue"/>
              </a:rPr>
              <a:t>Disclosure is market design</a:t>
            </a:r>
            <a:r>
              <a:rPr sz="1850" b="0">
                <a:solidFill>
                  <a:srgbClr val="212121"/>
                </a:solidFill>
                <a:latin typeface="Helvetica Neue"/>
              </a:rPr>
              <a:t> — it substitutes for liquidity in pricing activism, and stricter isn't always better.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577840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7424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Helvetica Neue"/>
              </a:rPr>
              <a:t>Thank you  ·  junyu.li.24@ucl.ac.uk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629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" y="2761488"/>
            <a:ext cx="582930" cy="64008"/>
          </a:xfrm>
          <a:prstGeom prst="rect">
            <a:avLst/>
          </a:prstGeom>
          <a:solidFill>
            <a:srgbClr val="EE6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79042" y="2761488"/>
            <a:ext cx="582930" cy="64008"/>
          </a:xfrm>
          <a:prstGeom prst="rect">
            <a:avLst/>
          </a:prstGeom>
          <a:solidFill>
            <a:srgbClr val="DDCC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61972" y="2761488"/>
            <a:ext cx="582930" cy="64008"/>
          </a:xfrm>
          <a:prstGeom prst="rect">
            <a:avLst/>
          </a:prstGeom>
          <a:solidFill>
            <a:srgbClr val="88CC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44902" y="2761488"/>
            <a:ext cx="582930" cy="64008"/>
          </a:xfrm>
          <a:prstGeom prst="rect">
            <a:avLst/>
          </a:prstGeom>
          <a:solidFill>
            <a:srgbClr val="44AA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Helvetica Neue"/>
              </a:rPr>
              <a:t>Backup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E8"/>
                </a:solidFill>
                <a:latin typeface="Helvetica Neue"/>
              </a:rPr>
              <a:t>Calibration · equilibrium tables · posterior algebra · certification machinery · tender game · data &amp; methods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Baseline calibration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SYMBOL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PARAMETER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RATIONALE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652760" cy="158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al_p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287448"/>
            <a:ext cx="449732" cy="152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22311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Prior mean / value vol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3113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12121"/>
                </a:solidFill>
                <a:latin typeface="Helvetica Neue"/>
              </a:rPr>
              <a:t>1.00 / 0.50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23113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Helvetica Neue"/>
              </a:rPr>
              <a:t>normalization; moderate uncertainty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606040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al_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724760"/>
            <a:ext cx="213969" cy="146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31720" y="266547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Signal 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654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12121"/>
                </a:solidFill>
                <a:latin typeface="Helvetica Neue"/>
              </a:rPr>
              <a:t>0.50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66547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Helvetica Neue"/>
              </a:rPr>
              <a:t>signal weight β = 0.5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040380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al_del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150185"/>
            <a:ext cx="128778" cy="16443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331720" y="309981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Discount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09981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12121"/>
                </a:solidFill>
                <a:latin typeface="Helvetica Neue"/>
              </a:rPr>
              <a:t>0.95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309981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Helvetica Neue"/>
              </a:rPr>
              <a:t>near-term horizon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474720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cal_kap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606318"/>
            <a:ext cx="144627" cy="12085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331720" y="35341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Liquidity (baseline)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53415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12121"/>
                </a:solidFill>
                <a:latin typeface="Helvetica Neue"/>
              </a:rPr>
              <a:t>0.50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53415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Helvetica Neue"/>
              </a:rPr>
              <a:t>interior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909060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cal_co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004006"/>
            <a:ext cx="471525" cy="19415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331720" y="396849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Engagement cost, slope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96849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12121"/>
                </a:solidFill>
                <a:latin typeface="Helvetica Neue"/>
              </a:rPr>
              <a:t>0.12, 0.50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39684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Helvetica Neue"/>
              </a:rPr>
              <a:t>moderate, strong-thesis decay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343400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cal_rh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4438346"/>
            <a:ext cx="400202" cy="19415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331720" y="44028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Success prob / value-add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40283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12121"/>
                </a:solidFill>
                <a:latin typeface="Helvetica Neue"/>
              </a:rPr>
              <a:t>0.90 / 0.25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440283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Helvetica Neue"/>
              </a:rPr>
              <a:t>selective activists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777740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cal_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4893488"/>
            <a:ext cx="614172" cy="15255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331720" y="483717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Premia (base / success)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837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12121"/>
                </a:solidFill>
                <a:latin typeface="Helvetica Neue"/>
              </a:rPr>
              <a:t>0.10 / 0.30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483717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Helvetica Neue"/>
              </a:rPr>
              <a:t>10% base, 30% on success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212080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cal_sy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" y="5288204"/>
            <a:ext cx="725119" cy="2318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331720" y="527151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Synergy / entry cost / bidder vol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27151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12121"/>
                </a:solidFill>
                <a:latin typeface="Helvetica Neue"/>
              </a:rPr>
              <a:t>1.44 / 0.15 / 0.40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79" y="527151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Helvetica Neue"/>
              </a:rPr>
              <a:t>interior bid probability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5646420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" y="57972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12121"/>
                </a:solidFill>
                <a:latin typeface="Helvetica Neue"/>
              </a:rPr>
              <a:t>Regularity (A5):</a:t>
            </a:r>
          </a:p>
        </p:txBody>
      </p:sp>
      <p:pic>
        <p:nvPicPr>
          <p:cNvPr id="54" name="Picture 53" descr="a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0280" y="5814327"/>
            <a:ext cx="1593113" cy="19453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434840" y="579729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A5A5A"/>
                </a:solidFill>
                <a:latin typeface="Helvetica Neue"/>
              </a:rPr>
              <a:t>— unique pricing fixed point.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Baseline equilibrium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28</a:t>
            </a:r>
          </a:p>
        </p:txBody>
      </p:sp>
      <p:pic>
        <p:nvPicPr>
          <p:cNvPr id="8" name="Picture 7" descr="th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53946"/>
            <a:ext cx="219456" cy="1874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A5A5A"/>
                </a:solidFill>
                <a:latin typeface="Helvetica Neue"/>
              </a:rPr>
              <a:t>disclosure</a:t>
            </a:r>
          </a:p>
        </p:txBody>
      </p:sp>
      <p:pic>
        <p:nvPicPr>
          <p:cNvPr id="10" name="Picture 9" descr="th_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853946"/>
            <a:ext cx="230886" cy="1874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6596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A5A5A"/>
                </a:solidFill>
                <a:latin typeface="Helvetica Neue"/>
              </a:rPr>
              <a:t>order flow</a:t>
            </a:r>
          </a:p>
        </p:txBody>
      </p:sp>
      <p:pic>
        <p:nvPicPr>
          <p:cNvPr id="12" name="Picture 11" descr="th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859661"/>
            <a:ext cx="153161" cy="1760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2900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A5A5A"/>
                </a:solidFill>
                <a:latin typeface="Helvetica Neue"/>
              </a:rPr>
              <a:t>price</a:t>
            </a:r>
          </a:p>
        </p:txBody>
      </p:sp>
      <p:pic>
        <p:nvPicPr>
          <p:cNvPr id="14" name="Picture 13" descr="th_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877949"/>
            <a:ext cx="173736" cy="13944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5780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A5A5A"/>
                </a:solidFill>
                <a:latin typeface="Helvetica Neue"/>
              </a:rPr>
              <a:t>belief</a:t>
            </a:r>
          </a:p>
        </p:txBody>
      </p:sp>
      <p:pic>
        <p:nvPicPr>
          <p:cNvPr id="16" name="Picture 15" descr="th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859661"/>
            <a:ext cx="153161" cy="17602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8660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A5A5A"/>
                </a:solidFill>
                <a:latin typeface="Helvetica Neue"/>
              </a:rPr>
              <a:t>bid prob</a:t>
            </a:r>
          </a:p>
        </p:txBody>
      </p:sp>
      <p:pic>
        <p:nvPicPr>
          <p:cNvPr id="18" name="Picture 17" descr="th_m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1864233"/>
            <a:ext cx="224028" cy="16687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9828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A5A5A"/>
                </a:solidFill>
                <a:latin typeface="Helvetica Neue"/>
              </a:rPr>
              <a:t>premium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432304"/>
            <a:ext cx="10652760" cy="158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−2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53512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−1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1.06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0.17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3410712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1.23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0.33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3867912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+1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1.39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780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1.00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0.28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325112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" y="4389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65960" y="4389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0/1/2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29000" y="4389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1.90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57800" y="4389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1.00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4389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4389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Helvetica Neue"/>
              </a:rPr>
              <a:t>0.28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782312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7240" y="4956048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Cutoffs: k₁ = k₀ ≈ 0.82, k_D ≈ 2.26 (hold region collapsed at baseline).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Helvetica Neue"/>
              </a:rPr>
              <a:t>Disclosed branch: flat price, belief 1, bid probability collapses to 1% — public activism strongly deters bidders (price run-up plus the full premium m̃ = 0.28).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Where κ enters: the posterior algebra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NOISE</a:t>
            </a:r>
          </a:p>
        </p:txBody>
      </p:sp>
      <p:pic>
        <p:nvPicPr>
          <p:cNvPr id="9" name="Picture 8" descr="nois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084831"/>
            <a:ext cx="2127199" cy="5995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1783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60">
                <a:solidFill>
                  <a:srgbClr val="5A5A5A"/>
                </a:solidFill>
                <a:latin typeface="Helvetica Neue"/>
              </a:rPr>
              <a:t>ORDER FLOW &amp; DISCLOSURE</a:t>
            </a:r>
          </a:p>
        </p:txBody>
      </p:sp>
      <p:pic>
        <p:nvPicPr>
          <p:cNvPr id="11" name="Picture 10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240280"/>
            <a:ext cx="2745943" cy="2304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3017520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ost_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309214"/>
            <a:ext cx="1623669" cy="4224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340156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A5A5A"/>
                </a:solidFill>
                <a:latin typeface="Helvetica Neue"/>
              </a:rPr>
              <a:t>κ-free — X = 1 pins q = 0</a:t>
            </a:r>
          </a:p>
        </p:txBody>
      </p:sp>
      <p:pic>
        <p:nvPicPr>
          <p:cNvPr id="15" name="Picture 14" descr="post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122725"/>
            <a:ext cx="3189732" cy="47792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35240" y="4242816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E6677"/>
                </a:solidFill>
                <a:latin typeface="Helvetica Neue"/>
              </a:rPr>
              <a:t>falls in κ — noise dilutes the good signal</a:t>
            </a:r>
          </a:p>
        </p:txBody>
      </p:sp>
      <p:pic>
        <p:nvPicPr>
          <p:cNvPr id="17" name="Picture 16" descr="post_m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963973"/>
            <a:ext cx="3328415" cy="47792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35240" y="508406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4AA99"/>
                </a:solidFill>
                <a:latin typeface="Helvetica Neue"/>
              </a:rPr>
              <a:t>rises in κ — sell-side flow gets excused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6072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Helvetica Neue"/>
              </a:rPr>
              <a:t>Rising κ compresses posteriors toward the prior: the inference channel of the hump. On D = 1, π ≡ 1 regardless of κ.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Existence and uniqueness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52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Existence: Brouwer on the compact cutoff simplex — unconditional.</a:t>
            </a:r>
          </a:p>
          <a:p>
            <a:pPr algn="l">
              <a:spcAft>
                <a:spcPts val="6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Pricing layer: A5 makes the price map a contraction — unique P* per information set:</a:t>
            </a:r>
          </a:p>
        </p:txBody>
      </p:sp>
      <p:pic>
        <p:nvPicPr>
          <p:cNvPr id="9" name="Picture 8" descr="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163" y="2999232"/>
            <a:ext cx="2285771" cy="27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11880"/>
            <a:ext cx="10652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>
                <a:solidFill>
                  <a:srgbClr val="212121"/>
                </a:solidFill>
                <a:latin typeface="Helvetica Neue"/>
              </a:rPr>
              <a:t>Cutoff layer: contraction verified numerically (A6); multi-start search from 4+ initial conditions converges to identical cutoffs; modulus L ≤ 0.836 along the κ path.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Helvetica Neue"/>
              </a:rPr>
              <a:t>The same modulus L powers the inversion-free certification of the hump region (next backup).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Certifying the hump region without inverting a Jacobian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52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Threat: equilibrium cutoffs move with κ (GE channel B) and could overturn the fixed-cutoff hump (channel A).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Standard bound needs ‖dk/dκ‖ — the unknown path derivative.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Trick: F = I − T inherits the contraction modulus L of the best-response map, so by the Neumann series:</a:t>
            </a:r>
          </a:p>
        </p:txBody>
      </p:sp>
      <p:pic>
        <p:nvPicPr>
          <p:cNvPr id="9" name="Picture 8" descr="neum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765" y="3456432"/>
            <a:ext cx="2550566" cy="4852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251960"/>
            <a:ext cx="10652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— computable from </a:t>
            </a:r>
            <a:r>
              <a:rPr sz="1500" b="1">
                <a:solidFill>
                  <a:srgbClr val="212121"/>
                </a:solidFill>
                <a:latin typeface="Helvetica Neue"/>
              </a:rPr>
              <a:t>one solve plus one finite difference</a:t>
            </a:r>
            <a:r>
              <a:rPr sz="1500" b="0">
                <a:solidFill>
                  <a:srgbClr val="212121"/>
                </a:solidFill>
                <a:latin typeface="Helvetica Neue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Result: |B| bounded below channel A's amplitude on κ ∈ [0.35, 0.825] (inversion-free; [0.30, 0.85] with exact IFT). Margins: ball integral 2.5×10⁻⁵ vs 4.7×10⁻³.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Helvetica Neue"/>
              </a:rPr>
              <a:t>At σ_ξ = 0.60 the same machinery certifies the </a:t>
            </a:r>
            <a:r>
              <a:rPr sz="1400" b="1">
                <a:solidFill>
                  <a:srgbClr val="5A5A5A"/>
                </a:solidFill>
                <a:latin typeface="Helvetica Neue"/>
              </a:rPr>
              <a:t>failure</a:t>
            </a:r>
            <a:r>
              <a:rPr sz="1400" b="0">
                <a:solidFill>
                  <a:srgbClr val="5A5A5A"/>
                </a:solidFill>
                <a:latin typeface="Helvetica Neue"/>
              </a:rPr>
              <a:t>: ∫|B| = 0.021 vs A-amplitude 0.0069 → trough.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The tender game behind 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0652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At the bargaining disagreement node: fringe raider (cost c_F ~ H, synergy S_F ~ G) posts a uniform tender for control share τ; atomistic float free-rides; charter allows dilution φ of non-tendering holders (Grossman–Hart).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Free-rider floor — raid pays iff dilution on acquired shares covers entry cost:</a:t>
            </a:r>
          </a:p>
        </p:txBody>
      </p:sp>
      <p:pic>
        <p:nvPicPr>
          <p:cNvPr id="10" name="Picture 9" descr="freer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870150"/>
            <a:ext cx="2095195" cy="2581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3520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Pivotal bloc (1 − α &lt; τ) can block: floor raids fail unless</a:t>
            </a:r>
          </a:p>
        </p:txBody>
      </p:sp>
      <p:pic>
        <p:nvPicPr>
          <p:cNvPr id="12" name="Picture 11" descr="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551530"/>
            <a:ext cx="1792223" cy="2304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297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→ the ψ factor. The equilibrium share the activist's side keeps:</a:t>
            </a:r>
          </a:p>
        </p:txBody>
      </p:sp>
      <p:pic>
        <p:nvPicPr>
          <p:cNvPr id="14" name="Picture 13" descr="l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328770"/>
            <a:ext cx="1666341" cy="23042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77240" y="4956048"/>
            <a:ext cx="10652760" cy="9525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10652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λ &gt; 0 fails only if raids are certain, fully superseding, and unblockable — so the wedge m₁ &gt; m₀ is a theorem on the rest of the parameter space.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Sensitivity: the hump survives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33</a:t>
            </a:r>
          </a:p>
        </p:txBody>
      </p:sp>
      <p:pic>
        <p:nvPicPr>
          <p:cNvPr id="8" name="Picture 7" descr="sen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577840" cy="1952562"/>
          </a:xfrm>
          <a:prstGeom prst="rect">
            <a:avLst/>
          </a:prstGeom>
        </p:spPr>
      </p:pic>
      <p:pic>
        <p:nvPicPr>
          <p:cNvPr id="9" name="Picture 8" descr="sen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5577840" cy="15381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Helvetica Neue"/>
              </a:rPr>
              <a:t>Left: discount factor δ and bidder vol σ_ξ. Right: engagement cost C₀, premium wedge m₁−m₀, success probability ρ. Peak location κ† marked.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Welfare vs minority gains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34</a:t>
            </a:r>
          </a:p>
        </p:txBody>
      </p:sp>
      <p:pic>
        <p:nvPicPr>
          <p:cNvPr id="8" name="Picture 7" descr="welf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035040" cy="43066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Total surplus = synergies + improvements − costs; prices and premia are transfers.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The κ that maximizes minority extraction deters marginal efficient takeovers → κ* ≠ κ†.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Helvetica Neue"/>
              </a:rPr>
              <a:t>Policy read: "more liquidity is good for governance" and "good for welfare" are different claims; the model separates them.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Disclosure benchmarks and rumors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35</a:t>
            </a:r>
          </a:p>
        </p:txBody>
      </p:sp>
      <p:pic>
        <p:nvPicPr>
          <p:cNvPr id="8" name="Picture 7" descr="rum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035040" cy="36777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Bounds: full information (κ-invariant) and no disclosure (maximally κ-sensitive) bracket the baseline regime.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Noisy rumors (wolf-pack chatter) interpolate: as rumor precision rises, inference converges to full information and the liquidity effect flattens further.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Helvetica Neue"/>
              </a:rPr>
              <a:t>Same comparative static as tightening the disclosure rule — information substitutes are interchangeable here.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Equilibrium cutoffs across the liquidity dial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36</a:t>
            </a:r>
          </a:p>
        </p:txBody>
      </p:sp>
      <p:pic>
        <p:nvPicPr>
          <p:cNvPr id="8" name="Picture 7" descr="cutoffs_kap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7154982" cy="3749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8288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Exit/hold boundary k₁ = k₀ throughout (hold collapsed); public threshold k_D tracks the quiet/public margin.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121"/>
                </a:solidFill>
                <a:latin typeface="Helvetica Neue"/>
              </a:rPr>
              <a:t>Ordering k₁ ≤ k₀ ≤ k_D preserved across all κ — the GE channel moves cutoffs smoothly, no regime jumps.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6052"/>
            <a:ext cx="91440" cy="91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154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spc="170">
                <a:solidFill>
                  <a:srgbClr val="1F3A5F"/>
                </a:solidFill>
                <a:latin typeface="Helvetica Neue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121"/>
                </a:solidFill>
                <a:latin typeface="Helvetica Neue"/>
              </a:rPr>
              <a:t>Evidence: data &amp;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spc="140">
                <a:solidFill>
                  <a:srgbClr val="5A5A5A"/>
                </a:solidFill>
                <a:latin typeface="Helvetica Neue"/>
              </a:rPr>
              <a:t>LIQUIDITY · ACTIVISM DISCLOSURE · TAKEOVER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Helvetica Neue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52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Universe: every original Schedule 13D on EDGAR 2022Q1–2025Q4 (amendments excluded; boundary-aware form matching — EDGAR renamed the form "SCHEDULE 13D" in Dec 2024).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CUSIPs parsed from cover pages with check-digit validation (~80–90% coverage); after-16:00 ET acceptances shifted to the next trading day.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CARs: market model, estimation 220 trading days ending 30 before the event (min 100 obs), windows [−1,+1] and [−10,+1].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1"/>
                </a:solidFill>
                <a:latin typeface="Helvetica Neue"/>
              </a:rPr>
              <a:t>Covariates: Amihud illiquidity [−250,−30], run-up [−60,−11], ln market cap at −30; US common stock only; two-way clustered SEs (firm × month); year-quarter FE absorb Post in the saturated spec.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3612</Words>
  <Application>Microsoft Macintosh PowerPoint</Application>
  <PresentationFormat>Widescreen</PresentationFormat>
  <Paragraphs>437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Austin Li</cp:lastModifiedBy>
  <cp:revision>2</cp:revision>
  <dcterms:created xsi:type="dcterms:W3CDTF">2013-01-27T09:14:16Z</dcterms:created>
  <dcterms:modified xsi:type="dcterms:W3CDTF">2026-06-11T15:10:11Z</dcterms:modified>
  <cp:category/>
</cp:coreProperties>
</file>