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164592" cy="2377440"/>
          </a:xfrm>
          <a:prstGeom prst="rect">
            <a:avLst/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965960"/>
            <a:ext cx="107899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A1A1A"/>
                </a:solidFill>
                <a:latin typeface="Helvetica Neue"/>
              </a:rPr>
              <a:t>Liquidity, Activism Disclosure,</a:t>
            </a:r>
          </a:p>
          <a:p>
            <a:r>
              <a:rPr sz="4400" b="1">
                <a:solidFill>
                  <a:srgbClr val="1A1A1A"/>
                </a:solidFill>
                <a:latin typeface="Helvetica Neue"/>
              </a:rPr>
              <a:t>and Takeover Premia</a:t>
            </a:r>
          </a:p>
          <a:p>
            <a:pPr>
              <a:spcBef>
                <a:spcPts val="1600"/>
              </a:spcBef>
            </a:pPr>
            <a:r>
              <a:rPr sz="2000">
                <a:solidFill>
                  <a:srgbClr val="5A5A5A"/>
                </a:solidFill>
                <a:latin typeface="Helvetica Neue"/>
              </a:rPr>
              <a:t>When can the market see an activist coming — and who pockets the premium?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120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A1A1A"/>
                </a:solidFill>
                <a:latin typeface="Helvetica Neue"/>
              </a:rPr>
              <a:t>Austin Li   ·   University College London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Three things to take 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31520" y="1920240"/>
            <a:ext cx="502920" cy="502920"/>
          </a:xfrm>
          <a:prstGeom prst="ellipse">
            <a:avLst/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" y="26060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1A1A"/>
                </a:solidFill>
                <a:latin typeface="Helvetica Neue"/>
              </a:rPr>
              <a:t>Liquidity has a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33375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Takeover gains for minority shareholders are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hump-shaped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 in market liquidity: noise lets bidders in, but too much noise destroys the market's ability to price activism.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61688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90288" y="1920240"/>
            <a:ext cx="502920" cy="502920"/>
          </a:xfrm>
          <a:prstGeom prst="ellipse">
            <a:avLst/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26060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1A1A"/>
                </a:solidFill>
                <a:latin typeface="Helvetica Neue"/>
              </a:rPr>
              <a:t>Who pockets the premium is tender mechanics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33375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The activist premium is pinned by a free-rider tender game: appropriability λ = 1 − q(1−γ)ψ. Low λ explains why estimated premia can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fall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 when activists show up.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6" y="1691640"/>
            <a:ext cx="3657600" cy="42062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449056" y="1920240"/>
            <a:ext cx="502920" cy="502920"/>
          </a:xfrm>
          <a:prstGeom prst="ellipse">
            <a:avLst/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20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2606040"/>
            <a:ext cx="3291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1A1A1A"/>
                </a:solidFill>
                <a:latin typeface="Helvetica Neue"/>
              </a:rPr>
              <a:t>Disclosure law is a market-design lever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21624" y="3337560"/>
            <a:ext cx="32918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Stake-triggered disclosure attenuates the liquidity effect — and stricter rules can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backfire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 by killing quiet engagement. The 2024 SEC acceleration moved exactly this margin.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Activist returns ride the takeover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737360"/>
            <a:ext cx="5212080" cy="41148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10312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6000" b="1">
                <a:solidFill>
                  <a:srgbClr val="4477AA"/>
                </a:solidFill>
                <a:latin typeface="Helvetica Neue"/>
              </a:rPr>
              <a:t>~65%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291840"/>
            <a:ext cx="46634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of activist hedge-fund returns are tied to M&amp;A outcomes (Brav–Jiang–Partnoy–Thomas 2008).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Targets are acquired at significant premia; activists profit primarily through the takeover exit (Greenwood–Schor 2009).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828800"/>
            <a:ext cx="55778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Helvetica Neue"/>
              </a:rPr>
              <a:t>So the question that prices an activist position is:</a:t>
            </a:r>
          </a:p>
          <a:p>
            <a:pPr>
              <a:spcAft>
                <a:spcPts val="1400"/>
              </a:spcAft>
            </a:pPr>
            <a:r>
              <a:rPr sz="2200" b="1">
                <a:solidFill>
                  <a:srgbClr val="1A1A1A"/>
                </a:solidFill>
                <a:latin typeface="Helvetica Neue"/>
              </a:rPr>
              <a:t>does a takeover arrive, and at what premium?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Helvetica Neue"/>
              </a:rPr>
              <a:t>Both depend on what the market can infer about engagement before anything is announced — i.e., on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trading conditions</a:t>
            </a:r>
            <a:r>
              <a:rPr sz="1700" b="0">
                <a:solidFill>
                  <a:srgbClr val="1A1A1A"/>
                </a:solidFill>
                <a:latin typeface="Helvetica Neue"/>
              </a:rPr>
              <a:t> and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disclosure rules</a:t>
            </a:r>
            <a:r>
              <a:rPr sz="17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Informed trading moves prices ahead of 13D filings (Collin-Dufresne–Fos 2015): the market is watching order flow.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Two policy levers, one information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120640" cy="566928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LIQUIDITY — can you trade unseen?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Noise trading is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camouflage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: it lets a blockholder accumulate or exit without moving the price.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But camouflage cuts both ways — it also stops the market from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seeing value being created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Tick sizes, dark pools, retail flow, index churn: all shift this dial. Regulators move it constantly.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120640" cy="566928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600" b="1">
                <a:solidFill>
                  <a:srgbClr val="FFFFFF"/>
                </a:solidFill>
                <a:latin typeface="Helvetica Neue"/>
              </a:rPr>
              <a:t>DISCLOSURE — when must you show your hand?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560320"/>
            <a:ext cx="51206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Schedule 13D: crossing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5%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with intent forces a public filing — engagement becomes observable.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Below the trigger, engagement can only be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inferred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from order flow. The rule partitions the information regime.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US window: 10 calendar days →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5 business days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 (Feb 2024). UK: 3% / 2 days. The lever is live.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2024: the SEC halved the clock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5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22960" y="2743200"/>
            <a:ext cx="10515600" cy="0"/>
          </a:xfrm>
          <a:prstGeom prst="bentConnector3">
            <a:avLst/>
          </a:prstGeom>
          <a:ln w="3175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1399032" y="267919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1968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A1A1A"/>
                </a:solidFill>
                <a:latin typeface="Helvetica Neue"/>
              </a:rPr>
              <a:t>Williams Act: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Helvetica Neue"/>
              </a:rPr>
              <a:t>13D regime born</a:t>
            </a:r>
          </a:p>
        </p:txBody>
      </p:sp>
      <p:sp>
        <p:nvSpPr>
          <p:cNvPr id="9" name="Oval 8"/>
          <p:cNvSpPr/>
          <p:nvPr/>
        </p:nvSpPr>
        <p:spPr>
          <a:xfrm>
            <a:off x="4142232" y="267919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832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2011–22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461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A1A1A"/>
                </a:solidFill>
                <a:latin typeface="Helvetica Neue"/>
              </a:rPr>
              <a:t>Petitions &amp; debate:</a:t>
            </a:r>
          </a:p>
          <a:p>
            <a:pPr algn="ctr"/>
            <a:r>
              <a:rPr sz="1200" b="0">
                <a:solidFill>
                  <a:srgbClr val="1A1A1A"/>
                </a:solidFill>
                <a:latin typeface="Helvetica Neue"/>
              </a:rPr>
              <a:t>10-day gap criticized</a:t>
            </a:r>
          </a:p>
        </p:txBody>
      </p:sp>
      <p:sp>
        <p:nvSpPr>
          <p:cNvPr id="12" name="Oval 11"/>
          <p:cNvSpPr/>
          <p:nvPr/>
        </p:nvSpPr>
        <p:spPr>
          <a:xfrm>
            <a:off x="6885432" y="267919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Oct 2023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1A1A1A"/>
                </a:solidFill>
                <a:latin typeface="Helvetica Neue"/>
              </a:rPr>
              <a:t>Rule 33-11253 adopted</a:t>
            </a:r>
          </a:p>
        </p:txBody>
      </p:sp>
      <p:sp>
        <p:nvSpPr>
          <p:cNvPr id="15" name="Oval 14"/>
          <p:cNvSpPr/>
          <p:nvPr/>
        </p:nvSpPr>
        <p:spPr>
          <a:xfrm>
            <a:off x="9628632" y="2679192"/>
            <a:ext cx="128016" cy="128016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0" y="20574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Feb 5, 2024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2971800"/>
            <a:ext cx="1920240" cy="868680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200" b="0">
                <a:solidFill>
                  <a:srgbClr val="FFFFFF"/>
                </a:solidFill>
                <a:latin typeface="Helvetica Neue"/>
              </a:rPr>
              <a:t>5 business days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Helvetica Neue"/>
              </a:rPr>
              <a:t>in 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66344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0">
                <a:solidFill>
                  <a:srgbClr val="1A1A1A"/>
                </a:solidFill>
                <a:latin typeface="Helvetica Neue"/>
              </a:rPr>
              <a:t>A regulator just compressed the </a:t>
            </a:r>
            <a:r>
              <a:rPr sz="1800" b="1">
                <a:solidFill>
                  <a:srgbClr val="1A1A1A"/>
                </a:solidFill>
                <a:latin typeface="Helvetica Neue"/>
              </a:rPr>
              <a:t>pre-disclosure accumulation window</a:t>
            </a:r>
            <a:r>
              <a:rPr sz="1800" b="0">
                <a:solidFill>
                  <a:srgbClr val="1A1A1A"/>
                </a:solidFill>
                <a:latin typeface="Helvetica Neue"/>
              </a:rPr>
              <a:t> — the exact margin this framework prices.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That makes the theory testable now: filings, returns, and liquidity around 2024-02-05 are the natural experiment.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MOTIVATION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05840" y="2103120"/>
            <a:ext cx="10149840" cy="237744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560320"/>
            <a:ext cx="9235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1A1A"/>
                </a:solidFill>
                <a:latin typeface="Helvetica Neue"/>
              </a:rPr>
              <a:t>How do market liquidity and disclosure rules shape the takeover premia that minority shareholders receive?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846320"/>
            <a:ext cx="95097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A single equilibrium framework: a blockholder who can exit, hold, or engage — quietly or publicly — a market pricing order flow, and a bidder reading both.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model in one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Value v drawn;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blockholder sees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private signal 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3580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TRADING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Chooses action;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noise traders mix in;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market prices order flow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0936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ENTRY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Bidder reads price &amp;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disclosure, decides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whether to bid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05088" y="2788920"/>
            <a:ext cx="365760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0" y="2011680"/>
            <a:ext cx="2331720" cy="502920"/>
          </a:xfrm>
          <a:prstGeom prst="roundRect">
            <a:avLst>
              <a:gd name="adj" fmla="val 18000"/>
            </a:avLst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PAYOFFS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0" y="2697480"/>
            <a:ext cx="2331720" cy="1554480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Takeover premium</a:t>
            </a:r>
          </a:p>
          <a:p>
            <a:pPr algn="ctr"/>
            <a:r>
              <a:rPr sz="1300" b="0">
                <a:solidFill>
                  <a:srgbClr val="1A1A1A"/>
                </a:solidFill>
                <a:latin typeface="Helvetica Neue"/>
              </a:rPr>
              <a:t>or standalone value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One round of trading, one potential bidder — the cleanest lab for the question. κ = share of noise trades (the liquidity dial).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Crucially, the bidder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conditions on the price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: information flows from trading to takeover entry. That feedback loop is the engine.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blockholder's four plays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EXIT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Sell the stake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Weakest signals:
cash out before bad news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68503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DDC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A1A1A"/>
                </a:solidFill>
                <a:latin typeface="Helvetica Neue"/>
              </a:rPr>
              <a:t>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8503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Stay passive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8503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Middling signals:
not worth the
engagement 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6539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1A1A1A"/>
                </a:solidFill>
                <a:latin typeface="Helvetica Neue"/>
              </a:rPr>
              <a:t>QUIET VOICE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6539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Engage privately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39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Good signals:
improve the firm
below the radar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281160" y="1783080"/>
            <a:ext cx="2606040" cy="32004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445752" y="1965960"/>
            <a:ext cx="2286000" cy="50292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PUBLIC VOICE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26060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1A1A1A"/>
                </a:solidFill>
                <a:latin typeface="Helvetica Neue"/>
              </a:rPr>
              <a:t>Buy + engage + file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45752" y="3063240"/>
            <a:ext cx="22860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1A1A1A"/>
                </a:solidFill>
                <a:latin typeface="Helvetica Neue"/>
              </a:rPr>
              <a:t>Best signals:
scale up and
trigger disclosure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097280" y="5349240"/>
            <a:ext cx="10058400" cy="0"/>
          </a:xfrm>
          <a:prstGeom prst="bentConnector3">
            <a:avLst/>
          </a:prstGeom>
          <a:ln w="2540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40080" y="54864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private signal s →  the equilibrium is a ladder of cutoffs k₁ ≤ k₀ ≤ k_D  (a theorem, not an assumption)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Why liquidity matters twice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Order flow X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9008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61188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A1A1A"/>
                </a:solidFill>
                <a:latin typeface="Helvetica Neue"/>
              </a:rPr>
              <a:t>Market belief</a:t>
            </a:r>
          </a:p>
          <a:p>
            <a:pPr algn="ctr"/>
            <a:r>
              <a:rPr sz="1500" b="1">
                <a:solidFill>
                  <a:srgbClr val="1A1A1A"/>
                </a:solidFill>
                <a:latin typeface="Helvetica Neue"/>
              </a:rPr>
              <a:t>π(X, D)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87044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9224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DDCC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A1A1A"/>
                </a:solidFill>
                <a:latin typeface="Helvetica Neue"/>
              </a:rPr>
              <a:t>Price P(X, D)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750808" y="2834640"/>
            <a:ext cx="1289304" cy="0"/>
          </a:xfrm>
          <a:prstGeom prst="bentConnector3">
            <a:avLst/>
          </a:prstGeom>
          <a:ln w="27940">
            <a:solidFill>
              <a:srgbClr val="5A5A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372600" y="2377440"/>
            <a:ext cx="2194560" cy="91440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Bid entry 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49039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50" b="1">
                <a:solidFill>
                  <a:srgbClr val="1A1A1A"/>
                </a:solidFill>
                <a:latin typeface="Helvetica Neue"/>
              </a:rPr>
              <a:t>Noise as cover (+):</a:t>
            </a:r>
            <a:r>
              <a:rPr sz="1650" b="0">
                <a:solidFill>
                  <a:srgbClr val="1A1A1A"/>
                </a:solidFill>
                <a:latin typeface="Helvetica Neue"/>
              </a:rPr>
              <a:t> more noise → lower prices on average → takeovers get cheaper → more bids arrive.</a:t>
            </a:r>
          </a:p>
          <a:p>
            <a:pPr>
              <a:spcAft>
                <a:spcPts val="800"/>
              </a:spcAft>
            </a:pPr>
            <a:r>
              <a:rPr sz="1650" b="1">
                <a:solidFill>
                  <a:srgbClr val="1A1A1A"/>
                </a:solidFill>
                <a:latin typeface="Helvetica Neue"/>
              </a:rPr>
              <a:t>Noise as fog (−):</a:t>
            </a:r>
            <a:r>
              <a:rPr sz="1650" b="0">
                <a:solidFill>
                  <a:srgbClr val="1A1A1A"/>
                </a:solidFill>
                <a:latin typeface="Helvetica Neue"/>
              </a:rPr>
              <a:t> more noise → order flow says less about engagement → the activism premium the market can price </a:t>
            </a:r>
            <a:r>
              <a:rPr sz="1650" b="1">
                <a:solidFill>
                  <a:srgbClr val="1A1A1A"/>
                </a:solidFill>
                <a:latin typeface="Helvetica Neue"/>
              </a:rPr>
              <a:t>erodes</a:t>
            </a:r>
            <a:r>
              <a:rPr sz="165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Disclosure (D = 1) bypasses the fog entirely — engagement is observed, not inferred. That asymmetry drives the policy results.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What the market sees: two information regimes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88C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1A1A1A"/>
                </a:solidFill>
                <a:latin typeface="Helvetica Neue"/>
              </a:rPr>
              <a:t>QUIET (D = 0) — inference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Engagement is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guessed from order flow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Liquidity κ governs how good the guess is.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Hold and quiet voice look identical in the tape — by design.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82880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PUBLIC (D = 1) — observation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560320"/>
            <a:ext cx="52120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 13D filing makes engagement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public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Prices stop depending on κ at all.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Disclosure is an information-regime switch, not just paperwork.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5778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 disclosure rule decides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how much of the market lives in each regime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— that is what makes it a design object.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Liquidity has a sweet spot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11</a:t>
            </a:r>
          </a:p>
        </p:txBody>
      </p:sp>
      <p:pic>
        <p:nvPicPr>
          <p:cNvPr id="5" name="Picture 4" descr="nonmonot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046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Helvetica Neue"/>
              </a:rPr>
              <a:t>Expected takeover gains to minority shareholders are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hump-shaped</a:t>
            </a:r>
            <a:r>
              <a:rPr sz="1700" b="0">
                <a:solidFill>
                  <a:srgbClr val="1A1A1A"/>
                </a:solidFill>
                <a:latin typeface="Helvetica Neue"/>
              </a:rPr>
              <a:t> in liquidity.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Too little noise: bidders stay away — prices are too informative, deals too expensive.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Too much noise: bids come, but the </a:t>
            </a:r>
            <a:r>
              <a:rPr sz="1550" b="1">
                <a:solidFill>
                  <a:srgbClr val="1A1A1A"/>
                </a:solidFill>
                <a:latin typeface="Helvetica Neue"/>
              </a:rPr>
              <a:t>activism premium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the market can price has evaporated.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The peak κ† ≈ 0.59: cover and visibility in balance.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Minority takeover gains Δ-min vs noise-trading intensity κ; baseline 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Why: cover vs camouflage, in one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12</a:t>
            </a:r>
          </a:p>
        </p:txBody>
      </p:sp>
      <p:pic>
        <p:nvPicPr>
          <p:cNvPr id="5" name="Picture 4" descr="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046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Split the gains into two books: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1A1A1A"/>
                </a:solidFill>
                <a:latin typeface="Helvetica Neue"/>
              </a:rPr>
              <a:t>Base book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— premium that arrives regardless of activism. Rises with noise: cover brings bids.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1A1A1A"/>
                </a:solidFill>
                <a:latin typeface="Helvetica Neue"/>
              </a:rPr>
              <a:t>Activism book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— premium tied to the market believing engagement is happening. Hump-shaped: inference dies with noise.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The activism book's peak sets the overall sweet spot.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Decomposition of Δ-min into base and activism components across κ.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Who captures the prize: tender-game arithmetic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13</a:t>
            </a:r>
          </a:p>
        </p:txBody>
      </p:sp>
      <p:pic>
        <p:nvPicPr>
          <p:cNvPr id="5" name="Picture 4" descr="we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250997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783080"/>
            <a:ext cx="4480560" cy="13716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1993392"/>
            <a:ext cx="4023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A1A1A"/>
                </a:solidFill>
                <a:latin typeface="Helvetica Neue"/>
              </a:rPr>
              <a:t>λ = 1 − q(1−γ)ψ</a:t>
            </a:r>
          </a:p>
          <a:p>
            <a:pPr algn="ctr"/>
            <a:r>
              <a:rPr sz="1200">
                <a:solidFill>
                  <a:srgbClr val="5A5A5A"/>
                </a:solidFill>
                <a:latin typeface="Helvetica Neue"/>
              </a:rPr>
              <a:t>how much of the improvement the activist's side keeps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383280"/>
            <a:ext cx="44805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q — chance a rival raider shows up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γ — does the improvement survive a change of control?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ψ — can the bloc's stake block the raid?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5A5A5A"/>
                </a:solidFill>
                <a:latin typeface="Helvetica Neue"/>
              </a:rPr>
              <a:t>Derived from a free-rider tender game — not assumed. Premium wedge: m₁ − m₀ = (1−θ)λρΔ.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Appropriability λ across game primitives (q, γ, ψ).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puzzle this solves: premia that fall on arrival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394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700" b="0">
                <a:solidFill>
                  <a:srgbClr val="1A1A1A"/>
                </a:solidFill>
                <a:latin typeface="Helvetica Neue"/>
              </a:rPr>
              <a:t>Structural estimates (Celentano–Levine 2025) find bid premia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13.7% lower</a:t>
            </a:r>
            <a:r>
              <a:rPr sz="1700" b="0">
                <a:solidFill>
                  <a:srgbClr val="1A1A1A"/>
                </a:solidFill>
                <a:latin typeface="Helvetica Neue"/>
              </a:rPr>
              <a:t> with an activist in the deal.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Contradiction with 'activism creates value'? No.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The measured premium divides the offer by a market price that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already banks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the activist's work (AFS 2022: 13D returns are ~3/4 anticipated treatment).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When appropriability λ is low, the denominator outruns the numerator: measured premia fall even though the true wedge m₁ ≥ m₀ never flips.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828800"/>
            <a:ext cx="5120640" cy="384048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05740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What our wedge adds vs the board-bargaining story: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Their effect moves only with activist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presence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Ours is indexed by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observables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: acquirer type (γ), rival pressure (q), stake pivotality (ψ), liquidity (κ).</a:t>
            </a:r>
          </a:p>
          <a:p>
            <a:pPr>
              <a:spcAft>
                <a:spcPts val="4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→ It predicts </a:t>
            </a:r>
            <a:r>
              <a:rPr sz="1450" b="1">
                <a:solidFill>
                  <a:srgbClr val="1A1A1A"/>
                </a:solidFill>
                <a:latin typeface="Helvetica Neue"/>
              </a:rPr>
              <a:t>where the sign flips</a:t>
            </a:r>
            <a:r>
              <a:rPr sz="1450" b="0">
                <a:solidFill>
                  <a:srgbClr val="1A1A1A"/>
                </a:solidFill>
                <a:latin typeface="Helvetica Neue"/>
              </a:rPr>
              <a:t>: portable improvements, pivotal blocs, cold fringe markets.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Different cross-sections, testable against each other.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How robust is the sweet spot? Now a theorem — with edges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15</a:t>
            </a:r>
          </a:p>
        </p:txBody>
      </p:sp>
      <p:pic>
        <p:nvPicPr>
          <p:cNvPr id="5" name="Picture 4" descr="ge_de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24638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4805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On a </a:t>
            </a:r>
            <a:r>
              <a:rPr sz="1550" b="1">
                <a:solidFill>
                  <a:srgbClr val="1A1A1A"/>
                </a:solidFill>
                <a:latin typeface="Helvetica Neue"/>
              </a:rPr>
              <a:t>certified range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of the liquidity dial (κ from 0.35 to 0.825), the hump is a theorem: equilibrium feedback provably cannot overturn it.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Outside it, the warning is real: when bidders barely react to premia (σ_ξ = 0.60), the hump </a:t>
            </a:r>
            <a:r>
              <a:rPr sz="1550" b="1">
                <a:solidFill>
                  <a:srgbClr val="1A1A1A"/>
                </a:solidFill>
                <a:latin typeface="Helvetica Neue"/>
              </a:rPr>
              <a:t>inverts into a trough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— certified, not hypothetical.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Practical read: the liquidity sweet spot is strongest where takeover entry is most sensitive to expected resistance.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GE channel decomposition; certified region and the σ_ξ = 0.60 inversion.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Disclosure turns the liquidity dial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16</a:t>
            </a:r>
          </a:p>
        </p:txBody>
      </p:sp>
      <p:pic>
        <p:nvPicPr>
          <p:cNvPr id="5" name="Picture 4" descr="slo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0467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Disclosed states don't depend on liquidity — so the more engagement happens in public, the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flatter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the liquidity–premium relationship.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Disclosure and liquidity are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substitute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information channels.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Cross-market prediction: tighter regimes (UK 3%/2-day) should show </a:t>
            </a:r>
            <a:r>
              <a:rPr sz="1550" b="1">
                <a:solidFill>
                  <a:srgbClr val="1A1A1A"/>
                </a:solidFill>
                <a:latin typeface="Helvetica Neue"/>
              </a:rPr>
              <a:t>muted</a:t>
            </a:r>
            <a:r>
              <a:rPr sz="1550" b="0">
                <a:solidFill>
                  <a:srgbClr val="1A1A1A"/>
                </a:solidFill>
                <a:latin typeface="Helvetica Neue"/>
              </a:rPr>
              <a:t> liquidity sensitivity vs the US.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989320"/>
            <a:ext cx="6400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Sensitivity of activism gains to κ under baseline vs stricter disclosure.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RESULTS ·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transparency paradox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92024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TRANSPARENCY (+)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Stricter disclosure reveals engagement → market prices activism → minorities share the gains.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Dominates when engagement is cheap and liquidity moderate.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55080" y="1920240"/>
            <a:ext cx="5212080" cy="54864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DETERRENCE (−)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2651760"/>
            <a:ext cx="52120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Forced visibility kills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quiet voice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: the blockholder exits rather than tip a bidder-deterring hand.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Dominates when engagement is costly — minorities end up worse off.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983480"/>
            <a:ext cx="10835640" cy="105156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521208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0">
                <a:solidFill>
                  <a:srgbClr val="1A1A1A"/>
                </a:solidFill>
                <a:latin typeface="Helvetica Neue"/>
              </a:rPr>
              <a:t>Disclosure reform that ignores deterrence can </a:t>
            </a:r>
            <a:r>
              <a:rPr sz="1700" b="1">
                <a:solidFill>
                  <a:srgbClr val="1A1A1A"/>
                </a:solidFill>
                <a:latin typeface="Helvetica Neue"/>
              </a:rPr>
              <a:t>destroy the channel it is trying to illuminate</a:t>
            </a:r>
            <a:r>
              <a:rPr sz="1700" b="0">
                <a:solidFill>
                  <a:srgbClr val="1A1A1A"/>
                </a:solidFill>
                <a:latin typeface="Helvetica Neue"/>
              </a:rPr>
              <a:t> — the model says when.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EVIDENCE ·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clock bit: filings sped up immediately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18</a:t>
            </a:r>
          </a:p>
        </p:txBody>
      </p:sp>
      <p:pic>
        <p:nvPicPr>
          <p:cNvPr id="5" name="Picture 4" descr="fac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26590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23760" y="1828800"/>
            <a:ext cx="4480560" cy="228600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52360" y="205740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4477AA"/>
                </a:solidFill>
                <a:latin typeface="Helvetica Neue"/>
              </a:rPr>
              <a:t>median 7 → 5 days</a:t>
            </a:r>
          </a:p>
          <a:p>
            <a:pPr algn="ctr">
              <a:spcBef>
                <a:spcPts val="1000"/>
              </a:spcBef>
            </a:pPr>
            <a:r>
              <a:rPr sz="1700">
                <a:solidFill>
                  <a:srgbClr val="1A1A1A"/>
                </a:solidFill>
                <a:latin typeface="Helvetica Neue"/>
              </a:rPr>
              <a:t>filed within 5 business days:
36% → 76%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4389120"/>
            <a:ext cx="4480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Universe of original 13Ds on EDGAR, windows straddling the 2024-02-05 compliance date.</a:t>
            </a:r>
          </a:p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The accumulation window — the model's quiet-trading cover — shrank by force of law.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EVIDENCE ·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market noticed: announcement returns moved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19</a:t>
            </a:r>
          </a:p>
        </p:txBody>
      </p:sp>
      <p:pic>
        <p:nvPicPr>
          <p:cNvPr id="5" name="Picture 4" descr="fac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400800" cy="4427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82880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Market-model CARs around 1,513 original 13D filings, 2022–2025; Post = filed under the 5-day rule.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Mean CAR[−1,+1] </a:t>
            </a:r>
            <a:r>
              <a:rPr sz="1500" b="1">
                <a:solidFill>
                  <a:srgbClr val="1A1A1A"/>
                </a:solidFill>
                <a:latin typeface="Helvetica Neue"/>
              </a:rPr>
              <a:t>doubles</a:t>
            </a:r>
            <a:r>
              <a:rPr sz="1500" b="0">
                <a:solidFill>
                  <a:srgbClr val="1A1A1A"/>
                </a:solidFill>
                <a:latin typeface="Helvetica Neue"/>
              </a:rPr>
              <a:t> post-rule (0.85% → 1.71%; sign as predicted, not significant). Surprises concentrate in </a:t>
            </a:r>
            <a:r>
              <a:rPr sz="1500" b="1">
                <a:solidFill>
                  <a:srgbClr val="1A1A1A"/>
                </a:solidFill>
                <a:latin typeface="Helvetica Neue"/>
              </a:rPr>
              <a:t>liquid</a:t>
            </a:r>
            <a:r>
              <a:rPr sz="1500" b="0">
                <a:solidFill>
                  <a:srgbClr val="1A1A1A"/>
                </a:solidFill>
                <a:latin typeface="Helvetica Neue"/>
              </a:rPr>
              <a:t> names — the camouflage margin is first-order. The Post×illiquidity interaction is a precise null.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3977639"/>
            <a:ext cx="4480560" cy="1874519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52360" y="4160520"/>
            <a:ext cx="4023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50" b="1">
                <a:solidFill>
                  <a:srgbClr val="1A1A1A"/>
                </a:solidFill>
                <a:latin typeface="Helvetica Neue"/>
              </a:rPr>
              <a:t>β (Post): +1.65pp   (t=0.87)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1A1A1A"/>
                </a:solidFill>
                <a:latin typeface="Helvetica Neue"/>
              </a:rPr>
              <a:t>ln Amihud: -1.43pp   (t=-3.73)</a:t>
            </a:r>
          </a:p>
          <a:p>
            <a:pPr>
              <a:spcAft>
                <a:spcPts val="600"/>
              </a:spcAft>
            </a:pPr>
            <a:r>
              <a:rPr sz="1550" b="1">
                <a:solidFill>
                  <a:srgbClr val="1A1A1A"/>
                </a:solidFill>
                <a:latin typeface="Helvetica Neue"/>
              </a:rPr>
              <a:t>δ (Post × ln Amihud): +0.17pp   (t=0.48)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A5A5A"/>
                </a:solidFill>
                <a:latin typeface="Helvetica Neue"/>
              </a:rPr>
              <a:t>n = 893 events · two-way clustered SEs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For policy: liquidity regulation is governance policy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Helvetica Neue"/>
              </a:rPr>
              <a:t>Anything that moves noise trading — tick size regimes, dark-pool rules, PFOF, index flows — </a:t>
            </a:r>
            <a:r>
              <a:rPr sz="1800" b="1">
                <a:solidFill>
                  <a:srgbClr val="1A1A1A"/>
                </a:solidFill>
                <a:latin typeface="Helvetica Neue"/>
              </a:rPr>
              <a:t>also moves takeover discipline</a:t>
            </a:r>
            <a:r>
              <a:rPr sz="1800" b="0">
                <a:solidFill>
                  <a:srgbClr val="1A1A1A"/>
                </a:solidFill>
                <a:latin typeface="Helvetica Neue"/>
              </a:rPr>
              <a:t>. The two rulebooks are one.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Helvetica Neue"/>
              </a:rPr>
              <a:t>Disclosure thresholds and windows are not transparency knobs alone: they reallocate engagement between quiet and public — and can </a:t>
            </a:r>
            <a:r>
              <a:rPr sz="1800" b="1">
                <a:solidFill>
                  <a:srgbClr val="1A1A1A"/>
                </a:solidFill>
                <a:latin typeface="Helvetica Neue"/>
              </a:rPr>
              <a:t>deter it outright</a:t>
            </a:r>
            <a:r>
              <a:rPr sz="18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800" b="0">
                <a:solidFill>
                  <a:srgbClr val="1A1A1A"/>
                </a:solidFill>
                <a:latin typeface="Helvetica Neue"/>
              </a:rPr>
              <a:t>The 2024 acceleration traded camouflage for visibility. The model prices that trade; the early data move the predicted 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Welfare caveat: the κ that maximizes minority gains is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not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 the social optimum — extraction deters some efficient deals.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IMPLICATIONS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For investors: where activism pays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Screen on liquidity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88366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Activist targets in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mid-liquidity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 names carry the largest expected takeover kicker — both tails are weak.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15468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Read the wedge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320954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Premium capture is largest with portable improvements (high γ), pivotal blocs (ψ), and few rival raiders (low q).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480560"/>
            <a:ext cx="2834640" cy="86868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Helvetica Neue"/>
              </a:rPr>
              <a:t>Mind the regime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535424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Post-2024, filing-day surprises are larger on average — and they are largest in liquid names, where quiet accumulation hides best.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064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5A5A5A"/>
                </a:solidFill>
                <a:latin typeface="Helvetica Neue"/>
              </a:rPr>
              <a:t>All three are cross-sectional, sign-testable statements — not calibration folklore.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Where this goes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Theory + certified numerics + two facts from the 2024 natural experiment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53128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81728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Next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81728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Full event-study cross-sections: premia, bid hazards, and liquidity interactions on the 13D universe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66176" y="1920240"/>
            <a:ext cx="3611880" cy="3108960"/>
          </a:xfrm>
          <a:prstGeom prst="roundRect">
            <a:avLst>
              <a:gd name="adj" fmla="val 45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94776" y="2148840"/>
            <a:ext cx="1188720" cy="457200"/>
          </a:xfrm>
          <a:prstGeom prst="roundRect">
            <a:avLst>
              <a:gd name="adj" fmla="val 18000"/>
            </a:avLst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400" b="1">
                <a:solidFill>
                  <a:srgbClr val="FFFFFF"/>
                </a:solidFill>
                <a:latin typeface="Helvetica Neue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94776" y="2788920"/>
            <a:ext cx="315468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Structural leg: estimate the engagement-cost distribution from 13D XML microdata — the white space the structural trio left open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The framework is built so each leg sharpens the same objects: κ, the disclosure rule, and λ.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Three things to 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23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1920240"/>
            <a:ext cx="502920" cy="502920"/>
          </a:xfrm>
          <a:prstGeom prst="ellipse">
            <a:avLst/>
          </a:prstGeom>
          <a:solidFill>
            <a:srgbClr val="4477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901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Helvetica Neue"/>
              </a:rPr>
              <a:t>Liquidity has a sweet spot</a:t>
            </a:r>
            <a:r>
              <a:rPr sz="1900" b="0">
                <a:solidFill>
                  <a:srgbClr val="1A1A1A"/>
                </a:solidFill>
                <a:latin typeface="Helvetica Neue"/>
              </a:rPr>
              <a:t> — minority takeover gains peak at moderate noise — and we certified when that's a theorem.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3063240"/>
            <a:ext cx="502920" cy="502920"/>
          </a:xfrm>
          <a:prstGeom prst="ellipse">
            <a:avLst/>
          </a:prstGeom>
          <a:solidFill>
            <a:srgbClr val="44AA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3044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Helvetica Neue"/>
              </a:rPr>
              <a:t>Premia follow tender mechanics</a:t>
            </a:r>
            <a:r>
              <a:rPr sz="1900" b="0">
                <a:solidFill>
                  <a:srgbClr val="1A1A1A"/>
                </a:solidFill>
                <a:latin typeface="Helvetica Neue"/>
              </a:rPr>
              <a:t> — λ = 1 − q(1−γ)ψ prices who keeps the improvement — and why measured premia can fall.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4206240"/>
            <a:ext cx="502920" cy="502920"/>
          </a:xfrm>
          <a:prstGeom prst="ellipse">
            <a:avLst/>
          </a:prstGeom>
          <a:solidFill>
            <a:srgbClr val="EE66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/>
            <a:r>
              <a:rPr sz="1800" b="1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4187952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900" b="1">
                <a:solidFill>
                  <a:srgbClr val="1A1A1A"/>
                </a:solidFill>
                <a:latin typeface="Helvetica Neue"/>
              </a:rPr>
              <a:t>Disclosure is market design</a:t>
            </a:r>
            <a:r>
              <a:rPr sz="1900" b="0">
                <a:solidFill>
                  <a:srgbClr val="1A1A1A"/>
                </a:solidFill>
                <a:latin typeface="Helvetica Neue"/>
              </a:rPr>
              <a:t> — it substitutes for liquidity in pricing activism, and stricter isn't always better.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669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5A5A5A"/>
                </a:solidFill>
                <a:latin typeface="Helvetica Neue"/>
              </a:rPr>
              <a:t>Thank you  ·  junyu.li.24@ucl.ac.uk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9260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5A5A5A"/>
                </a:solidFill>
                <a:latin typeface="Helvetica Neue"/>
              </a:rPr>
              <a:t>Backup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Baseline calibration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Prior mean μ / value vol σ_v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7830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1.00 / 0.50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17830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normalization; moderate uncertainty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Signal noise σ_ε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2860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2860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signal weight β = 0.5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Discount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7889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0.95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7889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near-term horizon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Liquidity κ (baseline)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29184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0.50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329184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interior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79476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Engagement cost C₀, slope 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37947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0.12, 0.50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379476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moderate, strong-thesis decay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29768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Success prob ρ / value-add 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429768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0.90 / 0.25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429768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selective activists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80060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Premia m₀ / m₁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0720" y="48006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0.10 / 0.30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0" y="480060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10% base, 30% on success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03520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Synergy S̄ / entry cost K / σ_ξ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530352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1">
                <a:solidFill>
                  <a:srgbClr val="1A1A1A"/>
                </a:solidFill>
                <a:latin typeface="Helvetica Neue"/>
              </a:rPr>
              <a:t>1.44 / 0.15 / 0.40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5303520"/>
            <a:ext cx="3931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5A5A5A"/>
                </a:solidFill>
                <a:latin typeface="Helvetica Neue"/>
              </a:rPr>
              <a:t>interior bid probability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5A5A5A"/>
                </a:solidFill>
                <a:latin typeface="Helvetica Neue"/>
              </a:rPr>
              <a:t>Regularity (A5): δφ(0)/σ_ξ = 0.947 &lt; 1 — unique pricing fixed point.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Baseline equilibrium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024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Price 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Belief 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Bid prob 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82880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1A1A1A"/>
                </a:solidFill>
                <a:latin typeface="Helvetica Neue"/>
              </a:rPr>
              <a:t>Premium m̄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−2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0.81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2331720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−1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0.41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60" y="2807208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1.23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0.74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3282696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+1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832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1.39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2560" y="3758184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0.28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2024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0/1/2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1.90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1.00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088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0" y="423367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50" b="0">
                <a:solidFill>
                  <a:srgbClr val="1A1A1A"/>
                </a:solidFill>
                <a:latin typeface="Helvetica Neue"/>
              </a:rPr>
              <a:t>0.28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4892040"/>
            <a:ext cx="10607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Cutoffs: k₁ = k₀ ≈ 0.82, k_D ≈ 2.26 (hold region collapsed at baseline).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1A1A1A"/>
                </a:solidFill>
                <a:latin typeface="Helvetica Neue"/>
              </a:rPr>
              <a:t>Disclosed branch: flat price, belief 1, bid probability collapses to 1% — public activism strongly deters bidders (price run-up plus the full premium m̃ = 0.28).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Where κ enters: the posterior algebra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Noise: z = 0 w.p. 1 − κ; z = ±1 w.p. κ/2 each.  Order flow X = q + z; disclosure D = 1{q = +1}.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π(1, 0) = ω_Q / (ω_H + ω_Q) — κ-free (X = 1 pins q = 0).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π(0, 0) = ω_Q(1−κ) / [(ω_H + ω_Q)(1−κ) + ω_E κ/2] — falls in κ.</a:t>
            </a:r>
          </a:p>
          <a:p>
            <a:pPr>
              <a:spcAft>
                <a:spcPts val="10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π(−1, 0) = ω_Q(κ/2) / [(ω_H + ω_Q)(κ/2) + ω_E(1−κ)] — rises in κ.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Rising κ compresses posteriors toward the prior: the inference channel of the hump. On D = 1, π ≡ 1 regardless of κ.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Existence and uniqueness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Existence: Brouwer on the compact cutoff simplex — unconditional.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Pricing layer: A5 (δφ(0)/σ_ξ &lt; 1) makes the price map a contraction — unique P* per information set.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Cutoff layer: contraction verified numerically (A6); multi-start search from 4+ initial conditions converges to identical cutoffs; modulus L ≤ 0.836 along the κ path.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The same modulus L powers the inversion-free certification of the hump region (next backup).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Certifying the hump region without inverting a Jacobian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Threat: equilibrium cutoffs move with κ (GE channel B) and could overturn the fixed-cutoff hump (channel A).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Standard bound needs ‖dk/dκ‖ — the unknown path derivative.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Trick: F = I − T inherits the contraction modulus L of the best-response map, so ‖(I − D_kT)⁻¹‖ ≤ 1/(1−L) by Neumann series — computable from </a:t>
            </a:r>
            <a:r>
              <a:rPr sz="1600" b="1">
                <a:solidFill>
                  <a:srgbClr val="1A1A1A"/>
                </a:solidFill>
                <a:latin typeface="Helvetica Neue"/>
              </a:rPr>
              <a:t>one solve plus one finite difference</a:t>
            </a:r>
            <a:r>
              <a:rPr sz="1600" b="0">
                <a:solidFill>
                  <a:srgbClr val="1A1A1A"/>
                </a:solidFill>
                <a:latin typeface="Helvetica Neue"/>
              </a:rPr>
              <a:t>.</a:t>
            </a:r>
          </a:p>
          <a:p>
            <a:pPr>
              <a:spcAft>
                <a:spcPts val="800"/>
              </a:spcAft>
            </a:pPr>
            <a:r>
              <a:rPr sz="1600" b="0">
                <a:solidFill>
                  <a:srgbClr val="1A1A1A"/>
                </a:solidFill>
                <a:latin typeface="Helvetica Neue"/>
              </a:rPr>
              <a:t>Result: |B| bounded below channel A's amplitude on κ ∈ [0.35, 0.825] (inversion-free; [0.30, 0.85] with exact IFT). Margins: ball integral 2.5×10⁻⁵ vs 4.7×10⁻³.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At σ_ξ = 0.60 the same machinery certifies the </a:t>
            </a:r>
            <a:r>
              <a:rPr sz="1500" b="1">
                <a:solidFill>
                  <a:srgbClr val="5A5A5A"/>
                </a:solidFill>
                <a:latin typeface="Helvetica Neue"/>
              </a:rPr>
              <a:t>failure</a:t>
            </a:r>
            <a:r>
              <a:rPr sz="1500" b="0">
                <a:solidFill>
                  <a:srgbClr val="5A5A5A"/>
                </a:solidFill>
                <a:latin typeface="Helvetica Neue"/>
              </a:rPr>
              <a:t>: ∫|B| = 0.021 vs A-amplitude 0.0069 → trough.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The tender game behind 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At the bargaining disagreement node: fringe raider (cost c_F ~ H, synergy S_F ~ G) posts a uniform tender for control share τ; atomistic float free-rides; charter allows dilution φ of non-tendering holders (Grossman–Hart).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Free-rider floor: b̂* = w + γaΔ + S_F − φ. Raid pays iff entry cost is covered by dilution on acquired shares.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Pivotal bloc (1 − α &lt; τ) can block: raid additionally needs S_F − φ ≥ (1−γ)aΔ → the ψ factor.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λ = 1 − q(1−γ)ψ emerges as the equilibrium share of the improvement the activist's side keeps; λ &gt; 0 fails only if raids are certain, fully superseding, and unblockable — so the wedge m₁ &gt; m₀ is a theorem on the rest of the parameter space.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Sensitivity: the hump survives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31</a:t>
            </a:r>
          </a:p>
        </p:txBody>
      </p:sp>
      <p:pic>
        <p:nvPicPr>
          <p:cNvPr id="5" name="Picture 4" descr="sens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0"/>
            <a:ext cx="5577840" cy="2644826"/>
          </a:xfrm>
          <a:prstGeom prst="rect">
            <a:avLst/>
          </a:prstGeom>
        </p:spPr>
      </p:pic>
      <p:pic>
        <p:nvPicPr>
          <p:cNvPr id="6" name="Picture 5" descr="sens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828800"/>
            <a:ext cx="5577840" cy="216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A5A5A"/>
                </a:solidFill>
                <a:latin typeface="Helvetica Neue"/>
              </a:rPr>
              <a:t>Left: discount factor δ and bidder vol σ_ξ. Right: engagement cost C₀, premium wedge m₁−m₀, success probability ρ. Peak location κ† marked.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Welfare vs minority gains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32</a:t>
            </a:r>
          </a:p>
        </p:txBody>
      </p:sp>
      <p:pic>
        <p:nvPicPr>
          <p:cNvPr id="5" name="Picture 4" descr="welf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035040" cy="3815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Total surplus = synergies + improvements − costs; prices and premia are transfers.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The κ that maximizes minority extraction deters marginal efficient takeovers → κ* ≠ κ†.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Policy read: "more liquidity is good for governance" and "good for welfare" are different claims; the model separates them.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Disclosure benchmarks and rumors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33</a:t>
            </a:r>
          </a:p>
        </p:txBody>
      </p:sp>
      <p:pic>
        <p:nvPicPr>
          <p:cNvPr id="5" name="Picture 4" descr="rum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6035040" cy="38154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828800"/>
            <a:ext cx="47548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Bounds: full information (κ-invariant) and no disclosure (maximally κ-sensitive) bracket the baseline regime.</a:t>
            </a:r>
          </a:p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Noisy rumors (wolf-pack chatter) interpolate: as rumor precision rises, inference converges to full information and the liquidity effect flattens further.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5A5A5A"/>
                </a:solidFill>
                <a:latin typeface="Helvetica Neue"/>
              </a:rPr>
              <a:t>Same comparative static as tightening the disclosure rule — information substitutes are interchangeable here.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Equilibrium cutoffs across the liquidity dial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34</a:t>
            </a:r>
          </a:p>
        </p:txBody>
      </p:sp>
      <p:pic>
        <p:nvPicPr>
          <p:cNvPr id="5" name="Picture 4" descr="cutoffs_kap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37360"/>
            <a:ext cx="5929939" cy="3749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828800"/>
            <a:ext cx="47548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Exit/hold boundary k₁ = k₀ throughout (hold collapsed); public threshold k_D tracks the quiet/public margin.</a:t>
            </a:r>
          </a:p>
          <a:p>
            <a:pPr>
              <a:spcAft>
                <a:spcPts val="600"/>
              </a:spcAft>
            </a:pPr>
            <a:r>
              <a:rPr sz="1550" b="0">
                <a:solidFill>
                  <a:srgbClr val="1A1A1A"/>
                </a:solidFill>
                <a:latin typeface="Helvetica Neue"/>
              </a:rPr>
              <a:t>Ordering k₁ ≤ k₀ ≤ k_D preserved across all κ — the GE channel moves cutoffs smoothly, no regime jumps.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477AA"/>
                </a:solidFill>
                <a:latin typeface="Helvetica Neue"/>
              </a:rPr>
              <a:t>BACKUP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75488" y="566928"/>
            <a:ext cx="112471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A1A1A"/>
                </a:solidFill>
                <a:latin typeface="Helvetica Neue"/>
              </a:rPr>
              <a:t>Evidence: data &amp; methods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84280" y="6446520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5A5A5A"/>
                </a:solidFill>
                <a:latin typeface="Helvetica Neue"/>
              </a:rP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Universe: every original Schedule 13D on EDGAR 2022Q1–2025Q4 (amendments excluded; boundary-aware form matching — EDGAR renamed the form "SCHEDULE 13D" in Dec 2024).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CUSIPs parsed from cover pages with check-digit validation (~80–90% coverage); after-16:00 ET acceptances shifted to the next trading day.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CARs: market model, estimation 220 trading days ending 30 before the event (min 100 obs), windows [−1,+1] and [−10,+1].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A1A1A"/>
                </a:solidFill>
                <a:latin typeface="Helvetica Neue"/>
              </a:rPr>
              <a:t>Covariates: Amihud illiquidity [−250,−30], run-up [−60,−11], ln market cap at −30; US common stock only; two-way clustered SEs (firm × month); year-quarter FE absorb Post in the saturated spec.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