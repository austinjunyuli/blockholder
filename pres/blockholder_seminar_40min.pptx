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164592" cy="2377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96596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212121"/>
                </a:solidFill>
                <a:latin typeface="Helvetica Neue"/>
              </a:rPr>
              <a:t>Liquidity, Activism Disclosure,</a:t>
            </a:r>
          </a:p>
          <a:p>
            <a:r>
              <a:rPr sz="4400" b="1">
                <a:solidFill>
                  <a:srgbClr val="212121"/>
                </a:solidFill>
                <a:latin typeface="Helvetica Neue"/>
              </a:rPr>
              <a:t>and Takeover Premia</a:t>
            </a:r>
          </a:p>
          <a:p>
            <a:pPr>
              <a:spcBef>
                <a:spcPts val="1600"/>
              </a:spcBef>
            </a:pPr>
            <a:r>
              <a:rPr sz="2000">
                <a:solidFill>
                  <a:srgbClr val="5A5A5A"/>
                </a:solidFill>
                <a:latin typeface="Helvetica Neue"/>
              </a:rPr>
              <a:t>When can the market see an activist coming — and who pockets the premium?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120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12121"/>
                </a:solidFill>
                <a:latin typeface="Helvetica Neue"/>
              </a:rPr>
              <a:t>Austin Li   ·   University College London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Three things to take 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657600" cy="420624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60320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50" b="1">
                <a:solidFill>
                  <a:srgbClr val="212121"/>
                </a:solidFill>
                <a:latin typeface="Helvetica Neue"/>
              </a:rPr>
              <a:t>Liquidity has a sweet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611880"/>
            <a:ext cx="32918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212121"/>
                </a:solidFill>
                <a:latin typeface="Helvetica Neue"/>
              </a:rPr>
              <a:t>Takeover gains for minority shareholders are </a:t>
            </a:r>
            <a:r>
              <a:rPr sz="1350" b="1">
                <a:solidFill>
                  <a:srgbClr val="212121"/>
                </a:solidFill>
                <a:latin typeface="Helvetica Neue"/>
              </a:rPr>
              <a:t>hump-shaped</a:t>
            </a:r>
            <a:r>
              <a:rPr sz="1350" b="0">
                <a:solidFill>
                  <a:srgbClr val="212121"/>
                </a:solidFill>
                <a:latin typeface="Helvetica Neue"/>
              </a:rPr>
              <a:t> in market liquidity: noise lets bidders in, but too much noise destroys the market's ability to price activism.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91640"/>
            <a:ext cx="3657600" cy="420624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90288" y="1920240"/>
            <a:ext cx="502920" cy="502920"/>
          </a:xfrm>
          <a:prstGeom prst="ellipse">
            <a:avLst/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560320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50" b="1">
                <a:solidFill>
                  <a:srgbClr val="212121"/>
                </a:solidFill>
                <a:latin typeface="Helvetica Neue"/>
              </a:rPr>
              <a:t>Who pockets the premium is tender mechanics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3611880"/>
            <a:ext cx="32918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212121"/>
                </a:solidFill>
                <a:latin typeface="Helvetica Neue"/>
              </a:rPr>
              <a:t>The activist premium is pinned by a free-rider tender game: appropriability λ = 1 − q(1−γ)ψ. Low λ explains why estimated premia can </a:t>
            </a:r>
            <a:r>
              <a:rPr sz="1350" b="1">
                <a:solidFill>
                  <a:srgbClr val="212121"/>
                </a:solidFill>
                <a:latin typeface="Helvetica Neue"/>
              </a:rPr>
              <a:t>fall</a:t>
            </a:r>
            <a:r>
              <a:rPr sz="1350" b="0">
                <a:solidFill>
                  <a:srgbClr val="212121"/>
                </a:solidFill>
                <a:latin typeface="Helvetica Neue"/>
              </a:rPr>
              <a:t> when activists show 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0456" y="1691640"/>
            <a:ext cx="3657600" cy="420624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49056" y="1920240"/>
            <a:ext cx="502920" cy="502920"/>
          </a:xfrm>
          <a:prstGeom prst="ellipse">
            <a:avLst/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560320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50" b="1">
                <a:solidFill>
                  <a:srgbClr val="212121"/>
                </a:solidFill>
                <a:latin typeface="Helvetica Neue"/>
              </a:rPr>
              <a:t>Disclosure law is a market-design lever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3611880"/>
            <a:ext cx="32918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212121"/>
                </a:solidFill>
                <a:latin typeface="Helvetica Neue"/>
              </a:rPr>
              <a:t>Stake-triggered disclosure attenuates the liquidity effect — and stricter rules can </a:t>
            </a:r>
            <a:r>
              <a:rPr sz="1350" b="1">
                <a:solidFill>
                  <a:srgbClr val="212121"/>
                </a:solidFill>
                <a:latin typeface="Helvetica Neue"/>
              </a:rPr>
              <a:t>backfire</a:t>
            </a:r>
            <a:r>
              <a:rPr sz="1350" b="0">
                <a:solidFill>
                  <a:srgbClr val="212121"/>
                </a:solidFill>
                <a:latin typeface="Helvetica Neue"/>
              </a:rPr>
              <a:t> by killing quiet engagement. The 2024 SEC acceleration moved exactly this margin.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Activist returns ride the takeover channel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37360"/>
            <a:ext cx="5212080" cy="41148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1F3A5F"/>
                </a:solidFill>
                <a:latin typeface="Helvetica Neue"/>
              </a:rPr>
              <a:t>~65%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of activist hedge-fund returns are tied to M&amp;A outcomes (Brav–Jiang–Partnoy–Thomas 2008).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Targets are acquired at significant premia; activists profit primarily through the takeover exit (Greenwood–Schor 2009).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2880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Helvetica Neue"/>
              </a:rPr>
              <a:t>So the question that prices an activist position is: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212121"/>
                </a:solidFill>
                <a:latin typeface="Helvetica Neue"/>
              </a:rPr>
              <a:t>does a takeover arrive, and at what premium?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Helvetica Neue"/>
              </a:rPr>
              <a:t>Both depend on what the market can infer about engagement before anything is announced — i.e., on </a:t>
            </a:r>
            <a:r>
              <a:rPr sz="1700" b="1">
                <a:solidFill>
                  <a:srgbClr val="212121"/>
                </a:solidFill>
                <a:latin typeface="Helvetica Neue"/>
              </a:rPr>
              <a:t>trading conditions</a:t>
            </a:r>
            <a:r>
              <a:rPr sz="1700" b="0">
                <a:solidFill>
                  <a:srgbClr val="212121"/>
                </a:solidFill>
                <a:latin typeface="Helvetica Neue"/>
              </a:rPr>
              <a:t> and </a:t>
            </a:r>
            <a:r>
              <a:rPr sz="1700" b="1">
                <a:solidFill>
                  <a:srgbClr val="212121"/>
                </a:solidFill>
                <a:latin typeface="Helvetica Neue"/>
              </a:rPr>
              <a:t>disclosure rules</a:t>
            </a:r>
            <a:r>
              <a:rPr sz="170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Informed trading moves prices ahead of 13D filings (Collin-Dufresne–Fos 2015): the market is watching order 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Two policy levers, one information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120640" cy="566928"/>
          </a:xfrm>
          <a:prstGeom prst="roundRect">
            <a:avLst>
              <a:gd name="adj" fmla="val 1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LIQUIDITY — can you trade unseen?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Noise trading is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camouflage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: it lets a blockholder accumulate or exit without moving the price.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But camouflage cuts both ways — it also stops the market from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seeing value being created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Tick sizes, dark pools, retail flow, index churn: all shift this dial. Regulators move it constantly.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120640" cy="566928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DISCLOSURE — when must you show your hand?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603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Schedule 13D: crossing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5%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 with intent forces a public filing — engagement becomes observable.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Below the trigger, engagement can only be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inferred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 from order flow. The rule partitions the information regime.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US window: 10 calendar days → </a:t>
            </a:r>
            <a:r>
              <a:rPr sz="1500" b="1">
                <a:solidFill>
                  <a:srgbClr val="5A5A5A"/>
                </a:solidFill>
                <a:latin typeface="Helvetica Neue"/>
              </a:rPr>
              <a:t>5 business days</a:t>
            </a:r>
            <a:r>
              <a:rPr sz="1500" b="0">
                <a:solidFill>
                  <a:srgbClr val="5A5A5A"/>
                </a:solidFill>
                <a:latin typeface="Helvetica Neue"/>
              </a:rPr>
              <a:t> (Feb 2024). UK: 3% / 2 days. The lever is live.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2024: the SEC halved the clock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743200"/>
            <a:ext cx="10515600" cy="0"/>
          </a:xfrm>
          <a:prstGeom prst="bentConnector3">
            <a:avLst/>
          </a:prstGeom>
          <a:ln w="3175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399032" y="2679192"/>
            <a:ext cx="128016" cy="128016"/>
          </a:xfrm>
          <a:prstGeom prst="ellipse">
            <a:avLst/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1968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212121"/>
                </a:solidFill>
                <a:latin typeface="Helvetica Neue"/>
              </a:rPr>
              <a:t>Williams Act: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Helvetica Neue"/>
              </a:rPr>
              <a:t>13D regime born</a:t>
            </a:r>
          </a:p>
        </p:txBody>
      </p:sp>
      <p:sp>
        <p:nvSpPr>
          <p:cNvPr id="12" name="Oval 11"/>
          <p:cNvSpPr/>
          <p:nvPr/>
        </p:nvSpPr>
        <p:spPr>
          <a:xfrm>
            <a:off x="4142232" y="2679192"/>
            <a:ext cx="128016" cy="128016"/>
          </a:xfrm>
          <a:prstGeom prst="ellipse">
            <a:avLst/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2011–22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212121"/>
                </a:solidFill>
                <a:latin typeface="Helvetica Neue"/>
              </a:rPr>
              <a:t>Petitions &amp; debate: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Helvetica Neue"/>
              </a:rPr>
              <a:t>10-day gap criticized</a:t>
            </a:r>
          </a:p>
        </p:txBody>
      </p:sp>
      <p:sp>
        <p:nvSpPr>
          <p:cNvPr id="15" name="Oval 14"/>
          <p:cNvSpPr/>
          <p:nvPr/>
        </p:nvSpPr>
        <p:spPr>
          <a:xfrm>
            <a:off x="6885432" y="2679192"/>
            <a:ext cx="128016" cy="128016"/>
          </a:xfrm>
          <a:prstGeom prst="ellipse">
            <a:avLst/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Oct 2023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212121"/>
                </a:solidFill>
                <a:latin typeface="Helvetica Neue"/>
              </a:rPr>
              <a:t>Rule 33-11253 adopted</a:t>
            </a:r>
          </a:p>
        </p:txBody>
      </p:sp>
      <p:sp>
        <p:nvSpPr>
          <p:cNvPr id="18" name="Oval 17"/>
          <p:cNvSpPr/>
          <p:nvPr/>
        </p:nvSpPr>
        <p:spPr>
          <a:xfrm>
            <a:off x="9628632" y="2679192"/>
            <a:ext cx="128016" cy="128016"/>
          </a:xfrm>
          <a:prstGeom prst="ellipse">
            <a:avLst/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Feb 5, 2024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FFFFFF"/>
                </a:solidFill>
                <a:latin typeface="Helvetica Neue"/>
              </a:rPr>
              <a:t>5 business days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Helvetica Neue"/>
              </a:rPr>
              <a:t>in 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634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Helvetica Neue"/>
              </a:rPr>
              <a:t>A regulator just compressed the </a:t>
            </a:r>
            <a:r>
              <a:rPr sz="1800" b="1">
                <a:solidFill>
                  <a:srgbClr val="212121"/>
                </a:solidFill>
                <a:latin typeface="Helvetica Neue"/>
              </a:rPr>
              <a:t>pre-disclosure accumulation window</a:t>
            </a:r>
            <a:r>
              <a:rPr sz="1800" b="0">
                <a:solidFill>
                  <a:srgbClr val="212121"/>
                </a:solidFill>
                <a:latin typeface="Helvetica Neue"/>
              </a:rPr>
              <a:t> — the exact margin this framework prices.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Helvetica Neue"/>
              </a:rPr>
              <a:t>That makes the theory testable now: filings, returns, and liquidity around 2024-02-05 are the natural experiment.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103120"/>
            <a:ext cx="10149840" cy="237744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9235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12121"/>
                </a:solidFill>
                <a:latin typeface="Helvetica Neue"/>
              </a:rPr>
              <a:t>How do market liquidity and disclosure rules shape the takeover premia that minority shareholders receive?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846320"/>
            <a:ext cx="9509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Helvetica Neue"/>
              </a:rPr>
              <a:t>A single equilibrium framework: a blockholder who can exit, hold, or engage — quietly or publicly — a market pricing order flow, and a bidder reading both.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Three literatures, one missing piece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3566160" cy="50292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EXIT vs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Blockholder governance: liquidity both disciplines (cheap accumulation) and tempts exit.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5A5A5A"/>
                </a:solidFill>
                <a:latin typeface="Helvetica Neue"/>
              </a:rPr>
              <a:t>Hirschman 1970; Maug 1998; Edmans 2009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566160" cy="50292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212121"/>
                </a:solidFill>
                <a:latin typeface="Helvetica Neue"/>
              </a:rPr>
              <a:t>INFORMED TRADING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51460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Microstructure: order flow moves prices; noise is camouflage.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5A5A5A"/>
                </a:solidFill>
                <a:latin typeface="Helvetica Neue"/>
              </a:rPr>
              <a:t>Kyle 1985; Glosten–Milgrom 1985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566160" cy="50292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TAKEOVER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51460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Prices feed back into real decisions — including bids.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5A5A5A"/>
                </a:solidFill>
                <a:latin typeface="Helvetica Neue"/>
              </a:rPr>
              <a:t>Grossman–Hart 1980; Edmans–Goldstein–Jiang 2015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10972800" cy="13716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92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Closest trio: Ordóñez-Calafí &amp; Bernhardt 2022 (threshold design), Corum &amp; Levit 2019 (activists as bidder catalysts), Cetemen et al. 2026 (dynamic trade timing).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212121"/>
                </a:solidFill>
                <a:latin typeface="Helvetica Neue"/>
              </a:rPr>
              <a:t>This paper:</a:t>
            </a:r>
            <a:r>
              <a:rPr sz="1550" b="0">
                <a:solidFill>
                  <a:srgbClr val="212121"/>
                </a:solidFill>
                <a:latin typeface="Helvetica Neue"/>
              </a:rPr>
              <a:t> stake-triggered disclosure partitions order-flow inference into disclosed and nondisclosed branches — and that inference feeds endogenous bidder entry.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The model in one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NATURE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Value v drawn;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blockholder sees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private signal 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35808" y="2788920"/>
            <a:ext cx="365760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7472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TRADING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Chooses action;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noise traders mix in;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market prices order flow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70448" y="2788920"/>
            <a:ext cx="365760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ENTRY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Bidder reads price &amp;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disclosure, decides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whether to bid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05088" y="2788920"/>
            <a:ext cx="365760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14400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PAYOFFS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Takeover premium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Helvetica Neue"/>
              </a:rPr>
              <a:t>or standalone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One round of trading, one potential bidder — the cleanest lab for the question. κ = share of noise trades (the liquidity dial).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Crucially, the bidder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conditions on the price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: information flows from trading to takeover entry. That feedback loop is the engine.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The blockholder's four plays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Sell the stake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Helvetica Neue"/>
              </a:rPr>
              <a:t>Weakest signals:
cash out before bad news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8503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DDC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212121"/>
                </a:solidFill>
                <a:latin typeface="Helvetica Neue"/>
              </a:rPr>
              <a:t>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Stay passive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Helvetica Neue"/>
              </a:rPr>
              <a:t>Middling signals:
not worth the
engagement cost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6539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212121"/>
                </a:solidFill>
                <a:latin typeface="Helvetica Neue"/>
              </a:rPr>
              <a:t>QUIET VOICE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Engage privately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Helvetica Neue"/>
              </a:rPr>
              <a:t>Good signals:
improve the firm
below the radar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4575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PUBLIC VOICE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12121"/>
                </a:solidFill>
                <a:latin typeface="Helvetica Neue"/>
              </a:rPr>
              <a:t>Buy + engage + 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Helvetica Neue"/>
              </a:rPr>
              <a:t>Best signals:
scale up and
trigger disclosure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7280" y="5349240"/>
            <a:ext cx="10058400" cy="0"/>
          </a:xfrm>
          <a:prstGeom prst="bentConnector3">
            <a:avLst/>
          </a:prstGeom>
          <a:ln w="2540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private signal s →  the equilibrium is a ladder of cutoffs k₁ ≤ k₀ ≤ k_D  (a theorem, not an assumption)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Why liquidity matters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Order flow X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90088" y="2834640"/>
            <a:ext cx="1289304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1188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212121"/>
                </a:solidFill>
                <a:latin typeface="Helvetica Neue"/>
              </a:rPr>
              <a:t>Market belief</a:t>
            </a:r>
          </a:p>
          <a:p>
            <a:pPr algn="ctr"/>
            <a:r>
              <a:rPr sz="1500" b="1">
                <a:solidFill>
                  <a:srgbClr val="212121"/>
                </a:solidFill>
                <a:latin typeface="Helvetica Neue"/>
              </a:rPr>
              <a:t>π(X, D)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0448" y="2834640"/>
            <a:ext cx="1289304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9224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DDC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212121"/>
                </a:solidFill>
                <a:latin typeface="Helvetica Neue"/>
              </a:rPr>
              <a:t>Price P(X, 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50808" y="2834640"/>
            <a:ext cx="1289304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37260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Bid entry 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212121"/>
                </a:solidFill>
                <a:latin typeface="Helvetica Neue"/>
              </a:rPr>
              <a:t>Noise as cover (+):</a:t>
            </a:r>
            <a:r>
              <a:rPr sz="1650" b="0">
                <a:solidFill>
                  <a:srgbClr val="212121"/>
                </a:solidFill>
                <a:latin typeface="Helvetica Neue"/>
              </a:rPr>
              <a:t> more noise → lower prices on average → takeovers get cheaper → more bids arrive.</a:t>
            </a:r>
          </a:p>
          <a:p>
            <a:pPr>
              <a:spcAft>
                <a:spcPts val="800"/>
              </a:spcAft>
            </a:pPr>
            <a:r>
              <a:rPr sz="1650" b="1">
                <a:solidFill>
                  <a:srgbClr val="212121"/>
                </a:solidFill>
                <a:latin typeface="Helvetica Neue"/>
              </a:rPr>
              <a:t>Noise as fog (−):</a:t>
            </a:r>
            <a:r>
              <a:rPr sz="1650" b="0">
                <a:solidFill>
                  <a:srgbClr val="212121"/>
                </a:solidFill>
                <a:latin typeface="Helvetica Neue"/>
              </a:rPr>
              <a:t> more noise → order flow says less about engagement → the activism premium the market can price </a:t>
            </a:r>
            <a:r>
              <a:rPr sz="1650" b="1">
                <a:solidFill>
                  <a:srgbClr val="212121"/>
                </a:solidFill>
                <a:latin typeface="Helvetica Neue"/>
              </a:rPr>
              <a:t>erodes</a:t>
            </a:r>
            <a:r>
              <a:rPr sz="165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Disclosure (D = 1) bypasses the fog entirely — engagement is observed, not inferred. That asymmetry drives the policy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What the market sees: two information regimes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212121"/>
                </a:solidFill>
                <a:latin typeface="Helvetica Neue"/>
              </a:rPr>
              <a:t>QUIET (D = 0) —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Engagement is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guessed from order flow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Liquidity κ governs how good the guess 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Hold and quiet voice look identical in the tape — by design.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PUBLIC (D = 1) — observation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6032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The 13D filing makes engagement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public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Prices stop depending on κ at 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Disclosure is an information-regime switch, not just paperwork.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The disclosure rule decides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how much of the market lives in each regime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 — that is what makes it a design object.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RESULTS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Liquidity has a sweet 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12</a:t>
            </a:r>
          </a:p>
        </p:txBody>
      </p:sp>
      <p:pic>
        <p:nvPicPr>
          <p:cNvPr id="8" name="Picture 7" descr="nonmono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5669280" cy="3879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Helvetica Neue"/>
              </a:rPr>
              <a:t>Expected takeover gains to minority shareholders are </a:t>
            </a:r>
            <a:r>
              <a:rPr sz="1700" b="1">
                <a:solidFill>
                  <a:srgbClr val="212121"/>
                </a:solidFill>
                <a:latin typeface="Helvetica Neue"/>
              </a:rPr>
              <a:t>hump-shaped</a:t>
            </a:r>
            <a:r>
              <a:rPr sz="1700" b="0">
                <a:solidFill>
                  <a:srgbClr val="212121"/>
                </a:solidFill>
                <a:latin typeface="Helvetica Neue"/>
              </a:rPr>
              <a:t> in liquidity.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Too little noise: bidders stay away — prices are too informative, deals too expensive.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Too much noise: bids come, but the </a:t>
            </a:r>
            <a:r>
              <a:rPr sz="1550" b="1">
                <a:solidFill>
                  <a:srgbClr val="212121"/>
                </a:solidFill>
                <a:latin typeface="Helvetica Neue"/>
              </a:rPr>
              <a:t>activism premium</a:t>
            </a:r>
            <a:r>
              <a:rPr sz="1550" b="0">
                <a:solidFill>
                  <a:srgbClr val="212121"/>
                </a:solidFill>
                <a:latin typeface="Helvetica Neue"/>
              </a:rPr>
              <a:t> the market can price has evaporated.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The peak κ† ≈ 0.59: cover and visibility in balance.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Minority takeover gains Δ-min vs noise-trading intensity κ; baseline calibration.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RESULTS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Why: cover vs camouflage, in one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13</a:t>
            </a:r>
          </a:p>
        </p:txBody>
      </p:sp>
      <p:pic>
        <p:nvPicPr>
          <p:cNvPr id="8" name="Picture 7" descr="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5669280" cy="3976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Split the gains into two books: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212121"/>
                </a:solidFill>
                <a:latin typeface="Helvetica Neue"/>
              </a:rPr>
              <a:t>Base book</a:t>
            </a:r>
            <a:r>
              <a:rPr sz="1550" b="0">
                <a:solidFill>
                  <a:srgbClr val="212121"/>
                </a:solidFill>
                <a:latin typeface="Helvetica Neue"/>
              </a:rPr>
              <a:t> — premium that arrives regardless of activism. Rises with noise: cover brings bids.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212121"/>
                </a:solidFill>
                <a:latin typeface="Helvetica Neue"/>
              </a:rPr>
              <a:t>Activism book</a:t>
            </a:r>
            <a:r>
              <a:rPr sz="1550" b="0">
                <a:solidFill>
                  <a:srgbClr val="212121"/>
                </a:solidFill>
                <a:latin typeface="Helvetica Neue"/>
              </a:rPr>
              <a:t> — premium tied to the market believing engagement is happening. Hump-shaped: inference dies with noise.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The activism book's peak sets the overall sweet spot.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Decomposition of Δ-min into base and activism components across 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RESULTS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Who captures the prize: tender-game arithmetic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14</a:t>
            </a:r>
          </a:p>
        </p:txBody>
      </p:sp>
      <p:pic>
        <p:nvPicPr>
          <p:cNvPr id="8" name="Picture 7" descr="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2459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23760" y="1783080"/>
            <a:ext cx="4480560" cy="13716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993392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12121"/>
                </a:solidFill>
                <a:latin typeface="Helvetica Neue"/>
              </a:rPr>
              <a:t>λ = 1 − q(1−γ)ψ</a:t>
            </a:r>
          </a:p>
          <a:p>
            <a:pPr algn="ctr"/>
            <a:r>
              <a:rPr sz="1200">
                <a:solidFill>
                  <a:srgbClr val="5A5A5A"/>
                </a:solidFill>
                <a:latin typeface="Helvetica Neue"/>
              </a:rPr>
              <a:t>how much of the improvement the activist's side keeps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383280"/>
            <a:ext cx="4480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q — chance a rival raider shows up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γ — does the improvement survive a change of control?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ψ — can the bloc's stake block the raid?</a:t>
            </a:r>
          </a:p>
          <a:p>
            <a:pPr>
              <a:spcAft>
                <a:spcPts val="400"/>
              </a:spcAft>
            </a:pPr>
            <a:r>
              <a:rPr sz="1450" b="0">
                <a:solidFill>
                  <a:srgbClr val="5A5A5A"/>
                </a:solidFill>
                <a:latin typeface="Helvetica Neue"/>
              </a:rPr>
              <a:t>Derived from a free-rider tender game — not assumed. Premium wedge: m₁ − m₀ = (1−θ)λρΔ.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Appropriability λ across game primitives (q, γ, ψ).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RESULTS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The puzzle this solves: premia that fall on arrival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Helvetica Neue"/>
              </a:rPr>
              <a:t>Structural estimates (Celentano–Levine 2025) find bid premia </a:t>
            </a:r>
            <a:r>
              <a:rPr sz="1700" b="1">
                <a:solidFill>
                  <a:srgbClr val="212121"/>
                </a:solidFill>
                <a:latin typeface="Helvetica Neue"/>
              </a:rPr>
              <a:t>13.7% lower</a:t>
            </a:r>
            <a:r>
              <a:rPr sz="1700" b="0">
                <a:solidFill>
                  <a:srgbClr val="212121"/>
                </a:solidFill>
                <a:latin typeface="Helvetica Neue"/>
              </a:rPr>
              <a:t> with an activist in the deal.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Contradiction with 'activism creates value'? No.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The measured premium divides the offer by a market price that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already banks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 the activist's work (AFS 2022: 13D returns are ~3/4 anticipated treatment).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When appropriability λ is low, the denominator outruns the numerator: measured premia fall even though the true wedge m₁ ≥ m₀ never flips.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120640" cy="384048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0574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12121"/>
                </a:solidFill>
                <a:latin typeface="Helvetica Neue"/>
              </a:rPr>
              <a:t>What our wedge adds vs the board-bargaining story: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Their effect moves only with activist </a:t>
            </a:r>
            <a:r>
              <a:rPr sz="1450" b="1">
                <a:solidFill>
                  <a:srgbClr val="212121"/>
                </a:solidFill>
                <a:latin typeface="Helvetica Neue"/>
              </a:rPr>
              <a:t>presence</a:t>
            </a:r>
            <a:r>
              <a:rPr sz="145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Ours is indexed by </a:t>
            </a:r>
            <a:r>
              <a:rPr sz="1450" b="1">
                <a:solidFill>
                  <a:srgbClr val="212121"/>
                </a:solidFill>
                <a:latin typeface="Helvetica Neue"/>
              </a:rPr>
              <a:t>observables</a:t>
            </a:r>
            <a:r>
              <a:rPr sz="1450" b="0">
                <a:solidFill>
                  <a:srgbClr val="212121"/>
                </a:solidFill>
                <a:latin typeface="Helvetica Neue"/>
              </a:rPr>
              <a:t>: acquirer type (γ), rival pressure (q), stake pivotality (ψ), liquidity (κ).</a:t>
            </a:r>
          </a:p>
          <a:p>
            <a:pPr>
              <a:spcAft>
                <a:spcPts val="4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→ It predicts </a:t>
            </a:r>
            <a:r>
              <a:rPr sz="1450" b="1">
                <a:solidFill>
                  <a:srgbClr val="212121"/>
                </a:solidFill>
                <a:latin typeface="Helvetica Neue"/>
              </a:rPr>
              <a:t>where the sign flips</a:t>
            </a:r>
            <a:r>
              <a:rPr sz="1450" b="0">
                <a:solidFill>
                  <a:srgbClr val="212121"/>
                </a:solidFill>
                <a:latin typeface="Helvetica Neue"/>
              </a:rPr>
              <a:t>: portable improvements, pivotal blocs, cold fringe markets.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Different cross-sections, testable against each other.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RESULTS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How robust is the sweet spot? Now a theorem — with edges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16</a:t>
            </a:r>
          </a:p>
        </p:txBody>
      </p:sp>
      <p:pic>
        <p:nvPicPr>
          <p:cNvPr id="8" name="Picture 7" descr="g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2459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On a </a:t>
            </a:r>
            <a:r>
              <a:rPr sz="1550" b="1">
                <a:solidFill>
                  <a:srgbClr val="212121"/>
                </a:solidFill>
                <a:latin typeface="Helvetica Neue"/>
              </a:rPr>
              <a:t>certified range</a:t>
            </a:r>
            <a:r>
              <a:rPr sz="1550" b="0">
                <a:solidFill>
                  <a:srgbClr val="212121"/>
                </a:solidFill>
                <a:latin typeface="Helvetica Neue"/>
              </a:rPr>
              <a:t> of the liquidity dial (κ from 0.35 to 0.825), the hump is a theorem: equilibrium feedback provably cannot overturn it.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Outside it, the warning is real: when bidders barely react to premia (σ_ξ = 0.60), the hump </a:t>
            </a:r>
            <a:r>
              <a:rPr sz="1550" b="1">
                <a:solidFill>
                  <a:srgbClr val="212121"/>
                </a:solidFill>
                <a:latin typeface="Helvetica Neue"/>
              </a:rPr>
              <a:t>inverts into a trough</a:t>
            </a:r>
            <a:r>
              <a:rPr sz="1550" b="0">
                <a:solidFill>
                  <a:srgbClr val="212121"/>
                </a:solidFill>
                <a:latin typeface="Helvetica Neue"/>
              </a:rPr>
              <a:t> — certified, not hypothetical.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Practical read: the liquidity sweet spot is strongest where takeover entry is most sensitive to expected resistance.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GE channel decomposition; certified region and the σ_ξ = 0.60 inversion.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RESULTS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Disclosure turns the liquidity dial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17</a:t>
            </a:r>
          </a:p>
        </p:txBody>
      </p:sp>
      <p:pic>
        <p:nvPicPr>
          <p:cNvPr id="8" name="Picture 7" descr="slo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37018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Disclosed states don't depend on liquidity — so the more engagement happens in public, the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flatter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 the liquidity–premium relationship.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Disclosure and liquidity are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substitute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 information channels.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Cross-market prediction: tighter regimes (UK 3%/2-day) should show </a:t>
            </a:r>
            <a:r>
              <a:rPr sz="1550" b="1">
                <a:solidFill>
                  <a:srgbClr val="212121"/>
                </a:solidFill>
                <a:latin typeface="Helvetica Neue"/>
              </a:rPr>
              <a:t>muted</a:t>
            </a:r>
            <a:r>
              <a:rPr sz="1550" b="0">
                <a:solidFill>
                  <a:srgbClr val="212121"/>
                </a:solidFill>
                <a:latin typeface="Helvetica Neue"/>
              </a:rPr>
              <a:t> liquidity sensitivity vs the 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Sensitivity of activism gains to κ under baseline vs stricter disclosure.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RESULTS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The transparency paradox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TRANSPARENCY (+)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Stricter disclosure reveals engagement → market prices activism → minorities share the gains.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Dominates when engagement is cheap and liquidity moderate.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92024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DETERRENCE (−)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5176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Forced visibility kills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quiet voice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: the blockholder exits rather than tip a bidder-deterring hand.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Dominates when engagement is costly — minorities end up worse 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80"/>
            <a:ext cx="10835640" cy="105156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2120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12121"/>
                </a:solidFill>
                <a:latin typeface="Helvetica Neue"/>
              </a:rPr>
              <a:t>Disclosure reform that ignores deterrence can </a:t>
            </a:r>
            <a:r>
              <a:rPr sz="1700" b="1">
                <a:solidFill>
                  <a:srgbClr val="212121"/>
                </a:solidFill>
                <a:latin typeface="Helvetica Neue"/>
              </a:rPr>
              <a:t>destroy the channel it is trying to illuminate</a:t>
            </a:r>
            <a:r>
              <a:rPr sz="1700" b="0">
                <a:solidFill>
                  <a:srgbClr val="212121"/>
                </a:solidFill>
                <a:latin typeface="Helvetica Neue"/>
              </a:rPr>
              <a:t> — the model says when.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EVIDENCE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The clock bit: filings sped up immediately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19</a:t>
            </a:r>
          </a:p>
        </p:txBody>
      </p:sp>
      <p:pic>
        <p:nvPicPr>
          <p:cNvPr id="8" name="Picture 7" descr="fac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470647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23760" y="1828800"/>
            <a:ext cx="4480560" cy="228600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205740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Helvetica Neue"/>
              </a:rPr>
              <a:t>median 7 → 5 days</a:t>
            </a:r>
          </a:p>
          <a:p>
            <a:pPr algn="ctr">
              <a:spcBef>
                <a:spcPts val="1000"/>
              </a:spcBef>
            </a:pPr>
            <a:r>
              <a:rPr sz="1700">
                <a:solidFill>
                  <a:srgbClr val="212121"/>
                </a:solidFill>
                <a:latin typeface="Helvetica Neue"/>
              </a:rPr>
              <a:t>filed within 5 business days:
36% → 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38912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Universe of original 13Ds on EDGAR, windows straddling the 2024-02-05 compliance date.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The accumulation window — the model's quiet-trading cover — shrank by force of law.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EVIDENCE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The market noticed: announcement returns moved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20</a:t>
            </a:r>
          </a:p>
        </p:txBody>
      </p:sp>
      <p:pic>
        <p:nvPicPr>
          <p:cNvPr id="8" name="Picture 7" descr="fac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46215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82880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Market-model CARs around 1,513 original 13D filings, 2022–2025; Post = filed under the 5-day rule.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Mean CAR[−1,+1] </a:t>
            </a:r>
            <a:r>
              <a:rPr sz="1500" b="1">
                <a:solidFill>
                  <a:srgbClr val="212121"/>
                </a:solidFill>
                <a:latin typeface="Helvetica Neue"/>
              </a:rPr>
              <a:t>doubles</a:t>
            </a:r>
            <a:r>
              <a:rPr sz="1500" b="0">
                <a:solidFill>
                  <a:srgbClr val="212121"/>
                </a:solidFill>
                <a:latin typeface="Helvetica Neue"/>
              </a:rPr>
              <a:t> post-rule (0.85% → 1.71%; sign as predicted, not significant). Surprises concentrate in </a:t>
            </a:r>
            <a:r>
              <a:rPr sz="1500" b="1">
                <a:solidFill>
                  <a:srgbClr val="212121"/>
                </a:solidFill>
                <a:latin typeface="Helvetica Neue"/>
              </a:rPr>
              <a:t>liquid</a:t>
            </a:r>
            <a:r>
              <a:rPr sz="1500" b="0">
                <a:solidFill>
                  <a:srgbClr val="212121"/>
                </a:solidFill>
                <a:latin typeface="Helvetica Neue"/>
              </a:rPr>
              <a:t> names — the camouflage margin is first-order. The Post×illiquidity interaction is a precise null.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3977639"/>
            <a:ext cx="4480560" cy="1874519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416052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212121"/>
                </a:solidFill>
                <a:latin typeface="Helvetica Neue"/>
              </a:rPr>
              <a:t>β (Post): +1.65pp   (t=0.87)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212121"/>
                </a:solidFill>
                <a:latin typeface="Helvetica Neue"/>
              </a:rPr>
              <a:t>ln Amihud: -1.43pp   (t=-3.73)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212121"/>
                </a:solidFill>
                <a:latin typeface="Helvetica Neue"/>
              </a:rPr>
              <a:t>δ (Post × ln Amihud): +0.17pp   (t=0.48)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A5A5A"/>
                </a:solidFill>
                <a:latin typeface="Helvetica Neue"/>
              </a:rPr>
              <a:t>n = 893 events · two-way clustered SEs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For policy: liquidity regulation is governance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12121"/>
                </a:solidFill>
                <a:latin typeface="Helvetica Neue"/>
              </a:rPr>
              <a:t>Anything that moves noise trading — tick size regimes, dark-pool rules, PFOF, index flows — </a:t>
            </a:r>
            <a:r>
              <a:rPr sz="1800" b="1">
                <a:solidFill>
                  <a:srgbClr val="212121"/>
                </a:solidFill>
                <a:latin typeface="Helvetica Neue"/>
              </a:rPr>
              <a:t>also moves takeover discipline</a:t>
            </a:r>
            <a:r>
              <a:rPr sz="1800" b="0">
                <a:solidFill>
                  <a:srgbClr val="212121"/>
                </a:solidFill>
                <a:latin typeface="Helvetica Neue"/>
              </a:rPr>
              <a:t>. The two rulebooks are one.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12121"/>
                </a:solidFill>
                <a:latin typeface="Helvetica Neue"/>
              </a:rPr>
              <a:t>Disclosure thresholds and windows are not transparency knobs alone: they reallocate engagement between quiet and public — and can </a:t>
            </a:r>
            <a:r>
              <a:rPr sz="1800" b="1">
                <a:solidFill>
                  <a:srgbClr val="212121"/>
                </a:solidFill>
                <a:latin typeface="Helvetica Neue"/>
              </a:rPr>
              <a:t>deter it outright</a:t>
            </a:r>
            <a:r>
              <a:rPr sz="180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12121"/>
                </a:solidFill>
                <a:latin typeface="Helvetica Neue"/>
              </a:rPr>
              <a:t>The 2024 acceleration traded camouflage for visibility. The model prices that trade; the early data move the predicted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Welfare caveat: the κ that maximizes minority gains is </a:t>
            </a:r>
            <a:r>
              <a:rPr sz="1500" b="1">
                <a:solidFill>
                  <a:srgbClr val="5A5A5A"/>
                </a:solidFill>
                <a:latin typeface="Helvetica Neue"/>
              </a:rPr>
              <a:t>not</a:t>
            </a:r>
            <a:r>
              <a:rPr sz="1500" b="0">
                <a:solidFill>
                  <a:srgbClr val="5A5A5A"/>
                </a:solidFill>
                <a:latin typeface="Helvetica Neue"/>
              </a:rPr>
              <a:t> the social optimum — extraction deters some efficient deals.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For investors: where activism pays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834640" cy="868680"/>
          </a:xfrm>
          <a:prstGeom prst="roundRect">
            <a:avLst>
              <a:gd name="adj" fmla="val 1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Screen on liquidity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83664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Activist targets in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mid-liquidity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 names carry the largest expected takeover kicker — both tails are weak.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2834640" cy="86868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Read the wedge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9544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Premium capture is largest with portable improvements (high γ), pivotal blocs (ψ), and few rival raiders (low q).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2834640" cy="86868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Mind the regime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535424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Post-2024, filing-day surprises are larger on average — and they are largest in liquid names, where quiet accumulation hides best.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All three are cross-sectional, sign-testable statements — not calibration folklore.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Where this goes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611880" cy="310896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214884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Theory + certified numerics + two facts from the 2024 natural experiment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920240"/>
            <a:ext cx="3611880" cy="310896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81728" y="214884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78892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Full event-study cross-sections: premia, bid hazards, and liquidity interactions on the 13D universe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66176" y="1920240"/>
            <a:ext cx="3611880" cy="3108960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94776" y="214884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278892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Structural leg: estimate the engagement-cost distribution from 13D XML microdata — the white space the structural trio left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The framework is built so each leg sharpens the same objects: κ, the disclosure rule, and 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Three things to remember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24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01952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12121"/>
                </a:solidFill>
                <a:latin typeface="Helvetica Neue"/>
              </a:rPr>
              <a:t>Liquidity has a sweet spot</a:t>
            </a:r>
            <a:r>
              <a:rPr sz="1900" b="0">
                <a:solidFill>
                  <a:srgbClr val="212121"/>
                </a:solidFill>
                <a:latin typeface="Helvetica Neue"/>
              </a:rPr>
              <a:t> — minority takeover gains peak at moderate noise — and we certified when that's a theorem.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044952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12121"/>
                </a:solidFill>
                <a:latin typeface="Helvetica Neue"/>
              </a:rPr>
              <a:t>Premia follow tender mechanics</a:t>
            </a:r>
            <a:r>
              <a:rPr sz="1900" b="0">
                <a:solidFill>
                  <a:srgbClr val="212121"/>
                </a:solidFill>
                <a:latin typeface="Helvetica Neue"/>
              </a:rPr>
              <a:t> — λ = 1 − q(1−γ)ψ prices who keeps the improvement — and why measured premia can fall.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87952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12121"/>
                </a:solidFill>
                <a:latin typeface="Helvetica Neue"/>
              </a:rPr>
              <a:t>Disclosure is market design</a:t>
            </a:r>
            <a:r>
              <a:rPr sz="1900" b="0">
                <a:solidFill>
                  <a:srgbClr val="212121"/>
                </a:solidFill>
                <a:latin typeface="Helvetica Neue"/>
              </a:rPr>
              <a:t> — it substitutes for liquidity in pricing activism, and stricter isn't always better.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Helvetica Neue"/>
              </a:rPr>
              <a:t>Thank you  ·  junyu.li.24@ucl.ac.uk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Helvetica Neue"/>
              </a:rPr>
              <a:t>Backup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Baseline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Prior mean μ / value vol σ_v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1.00 /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7830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normalization; moderate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Signal noise σ_ε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286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0.50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2860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signal weight β = 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Discount 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788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0.95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889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near-term horizon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918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Liquidity κ (baseline)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2918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0.50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2918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interior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Engagement cost C₀, slope 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794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0.12, 0.50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7947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moderate, strong-thesis decay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Success prob ρ / value-add 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297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0.90 / 0.25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2976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selective activists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006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Premia m₀ / m₁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0.10 / 0.30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8006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10% base, 30% on success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035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Synergy S̄ / entry cost K / σ_ξ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5303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212121"/>
                </a:solidFill>
                <a:latin typeface="Helvetica Neue"/>
              </a:rPr>
              <a:t>1.44 / 0.15 / 0.40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3035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interior bid probability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5A5A5A"/>
                </a:solidFill>
                <a:latin typeface="Helvetica Neue"/>
              </a:rPr>
              <a:t>Regularity (A5): δφ(0)/σ_ξ = 0.947 &lt; 1 — unique pricing fixed point.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Baseline equilibrium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12121"/>
                </a:solidFill>
                <a:latin typeface="Helvetica Neue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12121"/>
                </a:solidFill>
                <a:latin typeface="Helvetica Neue"/>
              </a:rPr>
              <a:t>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12121"/>
                </a:solidFill>
                <a:latin typeface="Helvetica Neue"/>
              </a:rPr>
              <a:t>Price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12121"/>
                </a:solidFill>
                <a:latin typeface="Helvetica Neue"/>
              </a:rPr>
              <a:t>Belief 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12121"/>
                </a:solidFill>
                <a:latin typeface="Helvetica Neue"/>
              </a:rPr>
              <a:t>Bid prob 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12121"/>
                </a:solidFill>
                <a:latin typeface="Helvetica Neue"/>
              </a:rPr>
              <a:t>Premium m̄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−2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−1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1.06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1.23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0.33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+1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1.39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0/1/2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1.90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1.00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212121"/>
                </a:solidFill>
                <a:latin typeface="Helvetica Neue"/>
              </a:rPr>
              <a:t>0.28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8920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Helvetica Neue"/>
              </a:rPr>
              <a:t>Cutoffs: k₁ = k₀ ≈ 0.82, k_D ≈ 2.26 (hold region collapsed at baseline).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Helvetica Neue"/>
              </a:rPr>
              <a:t>Disclosed branch: flat price, belief 1, bid probability collapses to 1% — public activism strongly deters bidders (price run-up plus the full premium m̃ = 0.28).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Where κ enters: the posterior algebra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Noise: z = 0 w.p. 1 − κ; z = ±1 w.p. κ/2 each.  Order flow X = q + z; disclosure D = 1{q = +1}.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π(1, 0) = ω_Q / (ω_H + ω_Q) — κ-free (X = 1 pins q = 0).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π(0, 0) = ω_Q(1−κ) / [(ω_H + ω_Q)(1−κ) + ω_E κ/2] — falls in κ.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π(−1, 0) = ω_Q(κ/2) / [(ω_H + ω_Q)(κ/2) + ω_E(1−κ)] — rises in κ.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Rising κ compresses posteriors toward the prior: the inference channel of the hump. On D = 1, π ≡ 1 regardless of κ.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Existence and uniqueness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Existence: Brouwer on the compact cutoff simplex — unconditional.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Pricing layer: A5 (δφ(0)/σ_ξ &lt; 1) makes the price map a contraction — unique P* per information set.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Cutoff layer: contraction verified numerically (A6); multi-start search from 4+ initial conditions converges to identical cutoffs; modulus L ≤ 0.836 along the κ path.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The same modulus L powers the inversion-free certification of the hump region (next backup).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Certifying the hump region without inverting a Jacobian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Threat: equilibrium cutoffs move with κ (GE channel B) and could overturn the fixed-cutoff hump (channel A).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Standard bound needs ‖dk/dκ‖ — the unknown path derivative.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Trick: F = I − T inherits the contraction modulus L of the best-response map, so ‖(I − D_kT)⁻¹‖ ≤ 1/(1−L) by Neumann series — computable from </a:t>
            </a:r>
            <a:r>
              <a:rPr sz="1600" b="1">
                <a:solidFill>
                  <a:srgbClr val="212121"/>
                </a:solidFill>
                <a:latin typeface="Helvetica Neue"/>
              </a:rPr>
              <a:t>one solve plus one finite difference</a:t>
            </a:r>
            <a:r>
              <a:rPr sz="1600" b="0">
                <a:solidFill>
                  <a:srgbClr val="212121"/>
                </a:solidFill>
                <a:latin typeface="Helvetica Neue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Helvetica Neue"/>
              </a:rPr>
              <a:t>Result: |B| bounded below channel A's amplitude on κ ∈ [0.35, 0.825] (inversion-free; [0.30, 0.85] with exact IFT). Margins: ball integral 2.5×10⁻⁵ vs 4.7×10⁻³.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At σ_ξ = 0.60 the same machinery certifies the </a:t>
            </a:r>
            <a:r>
              <a:rPr sz="1500" b="1">
                <a:solidFill>
                  <a:srgbClr val="5A5A5A"/>
                </a:solidFill>
                <a:latin typeface="Helvetica Neue"/>
              </a:rPr>
              <a:t>failure</a:t>
            </a:r>
            <a:r>
              <a:rPr sz="1500" b="0">
                <a:solidFill>
                  <a:srgbClr val="5A5A5A"/>
                </a:solidFill>
                <a:latin typeface="Helvetica Neue"/>
              </a:rPr>
              <a:t>: ∫|B| = 0.021 vs A-amplitude 0.0069 → trough.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The tender game behind 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At the bargaining disagreement node: fringe raider (cost c_F ~ H, synergy S_F ~ G) posts a uniform tender for control share τ; atomistic float free-rides; charter allows dilution φ of non-tendering holders (Grossman–Hart).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Free-rider floor: b̂* = w + γaΔ + S_F − φ. Raid pays iff entry cost is covered by dilution on acquired shares.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Pivotal bloc (1 − α &lt; τ) can block: raid additionally needs S_F − φ ≥ (1−γ)aΔ → the ψ factor.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λ = 1 − q(1−γ)ψ emerges as the equilibrium share of the improvement the activist's side keeps; λ &gt; 0 fails only if raids are certain, fully superseding, and unblockable — so the wedge m₁ &gt; m₀ is a theorem on the rest of the parameter space.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Sensitivity: the hump survives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32</a:t>
            </a:r>
          </a:p>
        </p:txBody>
      </p:sp>
      <p:pic>
        <p:nvPicPr>
          <p:cNvPr id="8" name="Picture 7" descr="sen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577840" cy="1952562"/>
          </a:xfrm>
          <a:prstGeom prst="rect">
            <a:avLst/>
          </a:prstGeom>
        </p:spPr>
      </p:pic>
      <p:pic>
        <p:nvPicPr>
          <p:cNvPr id="9" name="Picture 8" descr="sen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28800"/>
            <a:ext cx="5577840" cy="15381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Left: discount factor δ and bidder vol σ_ξ. Right: engagement cost C₀, premium wedge m₁−m₀, success probability ρ. Peak location κ† marked.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Welfare vs minority gains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33</a:t>
            </a:r>
          </a:p>
        </p:txBody>
      </p:sp>
      <p:pic>
        <p:nvPicPr>
          <p:cNvPr id="8" name="Picture 7" descr="welf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035040" cy="4306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Total surplus = synergies + improvements − costs; prices and premia are transfers.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The κ that maximizes minority extraction deters marginal efficient takeovers → κ* ≠ κ†.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Policy read: "more liquidity is good for governance" and "good for welfare" are different claims; the model separates them.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Disclosure benchmarks and rumors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34</a:t>
            </a:r>
          </a:p>
        </p:txBody>
      </p:sp>
      <p:pic>
        <p:nvPicPr>
          <p:cNvPr id="8" name="Picture 7" descr="rum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035040" cy="36777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Bounds: full information (κ-invariant) and no disclosure (maximally κ-sensitive) bracket the baseline regime.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Noisy rumors (wolf-pack chatter) interpolate: as rumor precision rises, inference converges to full information and the liquidity effect flattens further.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Same comparative static as tightening the disclosure rule — information substitutes are interchangeable 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Equilibrium cutoffs across the liquidity dial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35</a:t>
            </a:r>
          </a:p>
        </p:txBody>
      </p:sp>
      <p:pic>
        <p:nvPicPr>
          <p:cNvPr id="8" name="Picture 7" descr="cutoffs_kap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7154982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182880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Exit/hold boundary k₁ = k₀ throughout (hold collapsed); public threshold k_D tracks the quiet/public margin.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212121"/>
                </a:solidFill>
                <a:latin typeface="Helvetica Neue"/>
              </a:rPr>
              <a:t>Ordering k₁ ≤ k₀ ≤ k_D preserved across all κ — the GE channel moves cutoffs smoothly, no regime jumps.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8521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2121"/>
                </a:solidFill>
                <a:latin typeface="Helvetica Neue"/>
              </a:rPr>
              <a:t>Evidence: data &amp;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6192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9525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A5A5A"/>
                </a:solidFill>
                <a:latin typeface="Helvetica Neue"/>
              </a:rPr>
              <a:t>Liquidity, Activism Disclosure, and Takeover Premia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Universe: every original Schedule 13D on EDGAR 2022Q1–2025Q4 (amendments excluded; boundary-aware form matching — EDGAR renamed the form "SCHEDULE 13D" in Dec 2024).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CUSIPs parsed from cover pages with check-digit validation (~80–90% coverage); after-16:00 ET acceptances shifted to the next trading day.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CARs: market model, estimation 220 trading days ending 30 before the event (min 100 obs), windows [−1,+1] and [−10,+1].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Helvetica Neue"/>
              </a:rPr>
              <a:t>Covariates: Amihud illiquidity [−250,−30], run-up [−60,−11], ln market cap at −30; US common stock only; two-way clustered SEs (firm × month); year-quarter FE absorb Post in the saturated spec.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